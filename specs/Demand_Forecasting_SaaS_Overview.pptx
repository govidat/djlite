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1BA410-FB78-4099-94BE-F2007A0F93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93960-70C2-47CC-8CE4-4B3B085520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86CB5F-7E23-4177-A080-170A92B6A8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2C068E-9ABD-4F39-A058-D428F58B79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D4F3C0-FBB1-40EB-8B78-15929F5829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5E326B-3FE2-4087-A51D-12E0647A07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A2CC4-D855-431F-89F0-C77FA0A2909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86C24-C40D-499B-BED3-090DF2D15E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8DB863-191A-40E6-855F-061A1CAFF81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368E41-459A-4E1B-9030-25901509C80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2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3.xml"/><Relationship Id="rId8" Type="http://schemas.openxmlformats.org/officeDocument/2006/relationships/slide" Target="slide3.xml"/><Relationship Id="rId9" Type="http://schemas.openxmlformats.org/officeDocument/2006/relationships/slide" Target="slide3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4.xml"/><Relationship Id="rId13" Type="http://schemas.openxmlformats.org/officeDocument/2006/relationships/slide" Target="slide4.xml"/><Relationship Id="rId14" Type="http://schemas.openxmlformats.org/officeDocument/2006/relationships/slide" Target="slide4.xml"/><Relationship Id="rId15" Type="http://schemas.openxmlformats.org/officeDocument/2006/relationships/slide" Target="slide4.xml"/><Relationship Id="rId16" Type="http://schemas.openxmlformats.org/officeDocument/2006/relationships/slide" Target="slide5.xml"/><Relationship Id="rId17" Type="http://schemas.openxmlformats.org/officeDocument/2006/relationships/slide" Target="slide5.xml"/><Relationship Id="rId18" Type="http://schemas.openxmlformats.org/officeDocument/2006/relationships/slide" Target="slide5.xml"/><Relationship Id="rId19" Type="http://schemas.openxmlformats.org/officeDocument/2006/relationships/slide" Target="slide5.xml"/><Relationship Id="rId20" Type="http://schemas.openxmlformats.org/officeDocument/2006/relationships/slide" Target="slide5.xml"/><Relationship Id="rId21" Type="http://schemas.openxmlformats.org/officeDocument/2006/relationships/slide" Target="slide6.xml"/><Relationship Id="rId22" Type="http://schemas.openxmlformats.org/officeDocument/2006/relationships/slide" Target="slide6.xml"/><Relationship Id="rId23" Type="http://schemas.openxmlformats.org/officeDocument/2006/relationships/slide" Target="slide6.xml"/><Relationship Id="rId24" Type="http://schemas.openxmlformats.org/officeDocument/2006/relationships/slide" Target="slide6.xml"/><Relationship Id="rId25" Type="http://schemas.openxmlformats.org/officeDocument/2006/relationships/slide" Target="slide6.xml"/><Relationship Id="rId26" Type="http://schemas.openxmlformats.org/officeDocument/2006/relationships/slide" Target="slide7.xml"/><Relationship Id="rId27" Type="http://schemas.openxmlformats.org/officeDocument/2006/relationships/slide" Target="slide7.xml"/><Relationship Id="rId28" Type="http://schemas.openxmlformats.org/officeDocument/2006/relationships/slide" Target="slide7.xml"/><Relationship Id="rId29" Type="http://schemas.openxmlformats.org/officeDocument/2006/relationships/slide" Target="slide7.xml"/><Relationship Id="rId30" Type="http://schemas.openxmlformats.org/officeDocument/2006/relationships/slide" Target="slide7.xml"/><Relationship Id="rId31" Type="http://schemas.openxmlformats.org/officeDocument/2006/relationships/slide" Target="slide8.xml"/><Relationship Id="rId32" Type="http://schemas.openxmlformats.org/officeDocument/2006/relationships/slide" Target="slide8.xml"/><Relationship Id="rId33" Type="http://schemas.openxmlformats.org/officeDocument/2006/relationships/slide" Target="slide8.xml"/><Relationship Id="rId34" Type="http://schemas.openxmlformats.org/officeDocument/2006/relationships/slide" Target="slide8.xml"/><Relationship Id="rId35" Type="http://schemas.openxmlformats.org/officeDocument/2006/relationships/slide" Target="slide8.xml"/><Relationship Id="rId36" Type="http://schemas.openxmlformats.org/officeDocument/2006/relationships/slide" Target="slide9.xml"/><Relationship Id="rId37" Type="http://schemas.openxmlformats.org/officeDocument/2006/relationships/slide" Target="slide9.xml"/><Relationship Id="rId38" Type="http://schemas.openxmlformats.org/officeDocument/2006/relationships/slide" Target="slide9.xml"/><Relationship Id="rId39" Type="http://schemas.openxmlformats.org/officeDocument/2006/relationships/slide" Target="slide9.xml"/><Relationship Id="rId40" Type="http://schemas.openxmlformats.org/officeDocument/2006/relationships/slide" Target="slide9.xml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41148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DEMAND PLANNING &amp; FORECASTING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Platform Overview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41732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 one-page map of the methodology — click any tile to jump to that slide, and use the ← Overview link on every slide to return here.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>
            <a:hlinkClick r:id="rId1" action="ppaction://hlinksldjump"/>
          </p:cNvPr>
          <p:cNvSpPr/>
          <p:nvPr/>
        </p:nvSpPr>
        <p:spPr>
          <a:xfrm>
            <a:off x="640080" y="205740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>
            <a:hlinkClick r:id="rId2" action="ppaction://hlinksldjump"/>
          </p:cNvPr>
          <p:cNvSpPr/>
          <p:nvPr/>
        </p:nvSpPr>
        <p:spPr>
          <a:xfrm>
            <a:off x="841320" y="232020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41320" y="23202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3" action="ppaction://hlinksldjump"/>
              </a:rPr>
              <a:t>1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417320" y="214884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4" action="ppaction://hlinksldjump"/>
              </a:rPr>
              <a:t>Introduction &amp; Business Context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5" action="ppaction://hlinksldjump"/>
              </a:rPr>
              <a:t>Multi-tenant SaaS platform and roadmap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>
            <a:hlinkClick r:id="rId6" action="ppaction://hlinksldjump"/>
          </p:cNvPr>
          <p:cNvSpPr/>
          <p:nvPr/>
        </p:nvSpPr>
        <p:spPr>
          <a:xfrm>
            <a:off x="6254640" y="205740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>
            <a:hlinkClick r:id="rId7" action="ppaction://hlinksldjump"/>
          </p:cNvPr>
          <p:cNvSpPr/>
          <p:nvPr/>
        </p:nvSpPr>
        <p:spPr>
          <a:xfrm>
            <a:off x="6455520" y="232020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455520" y="23202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8" action="ppaction://hlinksldjump"/>
              </a:rPr>
              <a:t>2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031880" y="214884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9" action="ppaction://hlinksldjump"/>
              </a:rPr>
              <a:t>What Is Forecasting?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10" action="ppaction://hlinksldjump"/>
              </a:rPr>
              <a:t>Forecastability across location, product &amp; time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>
            <a:hlinkClick r:id="rId11" action="ppaction://hlinksldjump"/>
          </p:cNvPr>
          <p:cNvSpPr/>
          <p:nvPr/>
        </p:nvSpPr>
        <p:spPr>
          <a:xfrm>
            <a:off x="640080" y="324144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>
            <a:hlinkClick r:id="rId12" action="ppaction://hlinksldjump"/>
          </p:cNvPr>
          <p:cNvSpPr/>
          <p:nvPr/>
        </p:nvSpPr>
        <p:spPr>
          <a:xfrm>
            <a:off x="841320" y="350460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41320" y="3504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13" action="ppaction://hlinksldjump"/>
              </a:rPr>
              <a:t>3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417320" y="333288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14" action="ppaction://hlinksldjump"/>
              </a:rPr>
              <a:t>Product Hierarchy Standards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15" action="ppaction://hlinksldjump"/>
              </a:rPr>
              <a:t>GPC and American classification structures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>
            <a:hlinkClick r:id="rId16" action="ppaction://hlinksldjump"/>
          </p:cNvPr>
          <p:cNvSpPr/>
          <p:nvPr/>
        </p:nvSpPr>
        <p:spPr>
          <a:xfrm>
            <a:off x="6254640" y="324144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>
            <a:hlinkClick r:id="rId17" action="ppaction://hlinksldjump"/>
          </p:cNvPr>
          <p:cNvSpPr/>
          <p:nvPr/>
        </p:nvSpPr>
        <p:spPr>
          <a:xfrm>
            <a:off x="6455520" y="350460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455520" y="3504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18" action="ppaction://hlinksldjump"/>
              </a:rPr>
              <a:t>4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031880" y="333288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19" action="ppaction://hlinksldjump"/>
              </a:rPr>
              <a:t>Sales Hierarchy Aggregation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20" action="ppaction://hlinksldjump"/>
              </a:rPr>
              <a:t>Rolling reps up through branch, regional &amp; sales management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>
            <a:hlinkClick r:id="rId21" action="ppaction://hlinksldjump"/>
          </p:cNvPr>
          <p:cNvSpPr/>
          <p:nvPr/>
        </p:nvSpPr>
        <p:spPr>
          <a:xfrm>
            <a:off x="640080" y="442584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>
            <a:hlinkClick r:id="rId22" action="ppaction://hlinksldjump"/>
          </p:cNvPr>
          <p:cNvSpPr/>
          <p:nvPr/>
        </p:nvSpPr>
        <p:spPr>
          <a:xfrm>
            <a:off x="841320" y="468864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841320" y="4688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23" action="ppaction://hlinksldjump"/>
              </a:rPr>
              <a:t>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417320" y="451728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4" action="ppaction://hlinksldjump"/>
              </a:rPr>
              <a:t>Forecastability Measures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25" action="ppaction://hlinksldjump"/>
              </a:rPr>
              <a:t>Smooth, Erratic, Intermittent, Lumpy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>
            <a:hlinkClick r:id="rId26" action="ppaction://hlinksldjump"/>
          </p:cNvPr>
          <p:cNvSpPr/>
          <p:nvPr/>
        </p:nvSpPr>
        <p:spPr>
          <a:xfrm>
            <a:off x="6254640" y="442584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>
            <a:hlinkClick r:id="rId27" action="ppaction://hlinksldjump"/>
          </p:cNvPr>
          <p:cNvSpPr/>
          <p:nvPr/>
        </p:nvSpPr>
        <p:spPr>
          <a:xfrm>
            <a:off x="6455520" y="468864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455520" y="4688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28" action="ppaction://hlinksldjump"/>
              </a:rPr>
              <a:t>6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031880" y="451728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9" action="ppaction://hlinksldjump"/>
              </a:rPr>
              <a:t>Consensus Forecasting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30" action="ppaction://hlinksldjump"/>
              </a:rPr>
              <a:t>Blending statistics with the sales hierarchy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>
            <a:hlinkClick r:id="rId31" action="ppaction://hlinksldjump"/>
          </p:cNvPr>
          <p:cNvSpPr/>
          <p:nvPr/>
        </p:nvSpPr>
        <p:spPr>
          <a:xfrm>
            <a:off x="640080" y="560988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>
            <a:hlinkClick r:id="rId32" action="ppaction://hlinksldjump"/>
          </p:cNvPr>
          <p:cNvSpPr/>
          <p:nvPr/>
        </p:nvSpPr>
        <p:spPr>
          <a:xfrm>
            <a:off x="841320" y="587268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41320" y="5872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33" action="ppaction://hlinksldjump"/>
              </a:rPr>
              <a:t>7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1417320" y="570132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34" action="ppaction://hlinksldjump"/>
              </a:rPr>
              <a:t>Disaggregation of Overrides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35" action="ppaction://hlinksldjump"/>
              </a:rPr>
              <a:t>Proportional, Equal &amp; Custom methods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>
            <a:hlinkClick r:id="rId36" action="ppaction://hlinksldjump"/>
          </p:cNvPr>
          <p:cNvSpPr/>
          <p:nvPr/>
        </p:nvSpPr>
        <p:spPr>
          <a:xfrm>
            <a:off x="6254640" y="5609880"/>
            <a:ext cx="5294160" cy="927720"/>
          </a:xfrm>
          <a:prstGeom prst="roundRect">
            <a:avLst>
              <a:gd name="adj" fmla="val 8867"/>
            </a:avLst>
          </a:prstGeom>
          <a:solidFill>
            <a:srgbClr val="141a46"/>
          </a:solidFill>
          <a:ln w="12700">
            <a:solidFill>
              <a:srgbClr val="2b35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>
            <a:hlinkClick r:id="rId37" action="ppaction://hlinksldjump"/>
          </p:cNvPr>
          <p:cNvSpPr/>
          <p:nvPr/>
        </p:nvSpPr>
        <p:spPr>
          <a:xfrm>
            <a:off x="6455520" y="5872680"/>
            <a:ext cx="402120" cy="402120"/>
          </a:xfrm>
          <a:prstGeom prst="ellipse">
            <a:avLst/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455520" y="5872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sng">
                <a:solidFill>
                  <a:srgbClr val="141a46"/>
                </a:solidFill>
                <a:effectLst/>
                <a:uFillTx/>
                <a:latin typeface="Calibri"/>
                <a:ea typeface="Calibri"/>
                <a:hlinkClick r:id="rId38" action="ppaction://hlinksldjump"/>
              </a:rPr>
              <a:t>8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7031880" y="5701320"/>
            <a:ext cx="433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39" action="ppaction://hlinksldjump"/>
              </a:rPr>
              <a:t>Iterative Forecastability Search
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sng">
                <a:solidFill>
                  <a:srgbClr val="cadcfc"/>
                </a:solidFill>
                <a:effectLst/>
                <a:uFillTx/>
                <a:latin typeface="Calibri"/>
                <a:ea typeface="Calibri"/>
                <a:hlinkClick r:id="rId40" action="ppaction://hlinksldjump"/>
              </a:rPr>
              <a:t>Walking the grain hierarchy to a forecastable level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2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Introduction &amp; Business Context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548640" y="141732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A multi-tenant demand planning &amp; forecasting SaaS platform serving multiple client organizations from a single, secure codebase.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548640" y="2331720"/>
            <a:ext cx="365400" cy="365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548640" y="2331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1097280" y="2286000"/>
            <a:ext cx="507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Every dataset — actuals, forecasts, taxonomy, locations — is scoped per client, so tenants never see each other's data.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548640" y="3044880"/>
            <a:ext cx="365400" cy="365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548640" y="30448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1097280" y="2999160"/>
            <a:ext cx="507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Built to turn historical demand into forecasts planners can trust, override with judgment, and execute against.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548640" y="3758040"/>
            <a:ext cx="365400" cy="365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548640" y="3758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1097280" y="3712320"/>
            <a:ext cx="507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Designed to grow with the business: today's demand plan is the foundation for tomorrow's inventory and eCommerce decisions.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6492240" y="141732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PLATFORM ROADMAP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6492240" y="1828800"/>
            <a:ext cx="5120280" cy="1298160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6766560" y="1974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PHASE 1 — CURRENT FOCUS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6766560" y="2231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Demand Planning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6766560" y="26150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Forecasting, consensus &amp; series profiles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6492240" y="3310200"/>
            <a:ext cx="5120280" cy="1298160"/>
          </a:xfrm>
          <a:prstGeom prst="roundRect">
            <a:avLst>
              <a:gd name="adj" fmla="val 6338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6766560" y="34563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2"/>
          <p:cNvSpPr/>
          <p:nvPr/>
        </p:nvSpPr>
        <p:spPr>
          <a:xfrm>
            <a:off x="6766560" y="3712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Inventory Decision Engine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6766560" y="40964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Safety stock, replenishment &amp; allocation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4"/>
          <p:cNvSpPr/>
          <p:nvPr/>
        </p:nvSpPr>
        <p:spPr>
          <a:xfrm>
            <a:off x="6492240" y="4791600"/>
            <a:ext cx="5120280" cy="1298160"/>
          </a:xfrm>
          <a:prstGeom prst="roundRect">
            <a:avLst>
              <a:gd name="adj" fmla="val 6338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6766560" y="49377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PHASE 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6766560" y="51937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eCommerce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6766560" y="55778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Channel-aware planning &amp; fulfillment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3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What Is Forecasting?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548640" y="14173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Forecasting projects future demand from historical actuals. Its accuracy is never fixed — it depends heavily on the level at which demand is aggregated before a model sees it.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548640" y="21488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50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FORECASTABILITY IMPROVES AS YOU AGGREGATE ACROSS THREE AXES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548640" y="2560320"/>
            <a:ext cx="3520080" cy="2331360"/>
          </a:xfrm>
          <a:prstGeom prst="roundRect">
            <a:avLst>
              <a:gd name="adj" fmla="val 3922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822960" y="283464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82296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804600" y="34747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Sales Hierarchy Aggregation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804600" y="402336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Rep → branch → regional → sales manager smooths account noise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4343400" y="2560320"/>
            <a:ext cx="3520080" cy="2331360"/>
          </a:xfrm>
          <a:prstGeom prst="roundRect">
            <a:avLst>
              <a:gd name="adj" fmla="val 3922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4617720" y="283464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461772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4599360" y="34747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Product Hierarchy Aggregation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599360" y="402336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SKU → class → family cancels item-level spikes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8138160" y="2560320"/>
            <a:ext cx="3520080" cy="2331360"/>
          </a:xfrm>
          <a:prstGeom prst="roundRect">
            <a:avLst>
              <a:gd name="adj" fmla="val 3922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8412480" y="283464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841248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8394120" y="34747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Time Aggregation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8394120" y="402336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Daily → weekly → monthly averages out short-term variance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2"/>
          <p:cNvSpPr/>
          <p:nvPr/>
        </p:nvSpPr>
        <p:spPr>
          <a:xfrm>
            <a:off x="548640" y="5120640"/>
            <a:ext cx="11091240" cy="4568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731520" y="5120640"/>
            <a:ext cx="1072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Coarser aggregation → higher accuracy, lower operational granularity      |      Finer grain → more actionable, harder to forecast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4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Product Hierarchy Standards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548640" y="1417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Item taxonomy follows an industry-standard classification so that products roll up consistently.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548640" y="2103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50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GPC (GLOBAL PRODUCT CLASSIFICATION)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548640" y="2423160"/>
            <a:ext cx="206604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48640" y="2423160"/>
            <a:ext cx="2066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Segment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2597040" y="242316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2779920" y="2423160"/>
            <a:ext cx="206604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2779920" y="2423160"/>
            <a:ext cx="2066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Family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4827960" y="242316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5010840" y="2423160"/>
            <a:ext cx="206604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010840" y="2423160"/>
            <a:ext cx="2066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7059240" y="242316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7242120" y="2423160"/>
            <a:ext cx="206604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7242120" y="2423160"/>
            <a:ext cx="2066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Brick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9290160" y="242316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9473040" y="2423160"/>
            <a:ext cx="2066040" cy="959760"/>
          </a:xfrm>
          <a:prstGeom prst="roundRect">
            <a:avLst>
              <a:gd name="adj" fmla="val 7619"/>
            </a:avLst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9473040" y="2423160"/>
            <a:ext cx="2066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GTIN / Item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548640" y="3438000"/>
            <a:ext cx="10990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Broadest category grouping                                                                                                        Sellable unit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548640" y="3977640"/>
            <a:ext cx="5486040" cy="141696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777240" y="41148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ALTERNATIVE: AMERICAN STANDARDS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777240" y="438912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Where clients standardize on NAICS / UNSPSC-style classification instead of GPC, the same rollup logic applies — only the code set and level names change.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5"/>
          <p:cNvSpPr/>
          <p:nvPr/>
        </p:nvSpPr>
        <p:spPr>
          <a:xfrm>
            <a:off x="6263640" y="3977640"/>
            <a:ext cx="5394600" cy="14169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6492240" y="41148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WHY IT MATTERS FOR THE PLATFORM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6492240" y="438912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Every TaxonomyNode carries a hierarchical path, so forecasts, ABC classes and overrides can be rolled up or drilled down without recomputation — and colliding path prefixes across clients are guarded against.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5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Sales Hierarchy Aggregation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548640" y="1417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The sales organization forms its own rollup hierarchy — independent of product or location — with the individual sales rep as its leaf. Forecasts and consensus input can be reviewed at any management level.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548640" y="2148840"/>
            <a:ext cx="260568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548640" y="2148840"/>
            <a:ext cx="2605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Sales Manager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3136320" y="214884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3319200" y="2148840"/>
            <a:ext cx="260568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3319200" y="2148840"/>
            <a:ext cx="2605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Regional Manager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5906880" y="214884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6089760" y="2148840"/>
            <a:ext cx="2605680" cy="95976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089760" y="2148840"/>
            <a:ext cx="2605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Branch Manager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8677800" y="2148840"/>
            <a:ext cx="200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8860680" y="2148840"/>
            <a:ext cx="2605680" cy="959760"/>
          </a:xfrm>
          <a:prstGeom prst="roundRect">
            <a:avLst>
              <a:gd name="adj" fmla="val 7619"/>
            </a:avLst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8860680" y="2148840"/>
            <a:ext cx="2605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Sales Rep / Leaf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548640" y="3163680"/>
            <a:ext cx="1091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Widest commercial rollup                                                                                                                                    Leaf / atomic rep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548640" y="3977640"/>
            <a:ext cx="3520080" cy="2331360"/>
          </a:xfrm>
          <a:prstGeom prst="roundRect">
            <a:avLst>
              <a:gd name="adj" fmla="val 3922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777240" y="41788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SalesNode Paths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777240" y="4690800"/>
            <a:ext cx="30628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Each SalesNode stores a hierarchical path (e.g. manager/region/branch/rep) enabling instant roll-up or drill-down of consensus input without re-querying the tree.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1"/>
          <p:cNvSpPr/>
          <p:nvPr/>
        </p:nvSpPr>
        <p:spPr>
          <a:xfrm>
            <a:off x="4343400" y="3977640"/>
            <a:ext cx="3520080" cy="2331360"/>
          </a:xfrm>
          <a:prstGeom prst="roundRect">
            <a:avLst>
              <a:gd name="adj" fmla="val 3922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4572000" y="41788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Fine grained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4572000" y="4690800"/>
            <a:ext cx="30628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Sales Hierarchy can be further fine grained if required. For eg if the same delivery location caters to Retail and Institutional Customers, we can have Distribution Channel as a master to further fine grain..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8138160" y="3977640"/>
            <a:ext cx="3520080" cy="2331360"/>
          </a:xfrm>
          <a:prstGeom prst="roundRect">
            <a:avLst>
              <a:gd name="adj" fmla="val 3922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8366760" y="41788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Balancing Accuracy vs. Action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8366760" y="4690800"/>
            <a:ext cx="30628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Rolling up to a regional manager smooths noise for stable consensus review; the rep level is where account-level input actually originates.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6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Forecastability Measures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548640" y="13716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Every series is classified along two dimensions of demand behavior — how often it sells (ADI), and how much quantities vary when it does (CV²).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2286000" y="1965960"/>
            <a:ext cx="2422800" cy="1874160"/>
          </a:xfrm>
          <a:prstGeom prst="rect">
            <a:avLst/>
          </a:prstGeom>
          <a:solidFill>
            <a:srgbClr val="3e6fd1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2423160" y="210312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ERRATIC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2423160" y="2468880"/>
            <a:ext cx="2148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Regular demand, but quantities swing widely between periods.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4709160" y="1965960"/>
            <a:ext cx="2422800" cy="1874160"/>
          </a:xfrm>
          <a:prstGeom prst="rect">
            <a:avLst/>
          </a:prstGeom>
          <a:solidFill>
            <a:srgbClr val="c0392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4846320" y="210312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LUMPY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4846320" y="2468880"/>
            <a:ext cx="2148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Sparse and highly variable — the hardest class to forecast.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2286000" y="3840480"/>
            <a:ext cx="2422800" cy="1874160"/>
          </a:xfrm>
          <a:prstGeom prst="rect">
            <a:avLst/>
          </a:prstGeom>
          <a:solidFill>
            <a:srgbClr val="00b4a6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2423160" y="39776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SMOOTH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2423160" y="4343400"/>
            <a:ext cx="2148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Regular demand, consistent quantities — the easiest class to forecast.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4709160" y="3840480"/>
            <a:ext cx="2422800" cy="1874160"/>
          </a:xfrm>
          <a:prstGeom prst="rect">
            <a:avLst/>
          </a:prstGeom>
          <a:solidFill>
            <a:srgbClr val="6b4fa0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4846320" y="39776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INTERMITTENT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4846320" y="4343400"/>
            <a:ext cx="2148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Sparse, irregular demand with fairly consistent order sizes.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2103120" y="57423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4251960" y="57423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ADI 1.32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2286000" y="598932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DEMAND FREQUENCY (ADI)  →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1600200" y="55778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1600200" y="37216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CV² 0.49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502920" y="1965960"/>
            <a:ext cx="9140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QUANTITY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VARIABILITY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(CV²)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↑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7543800" y="1828800"/>
            <a:ext cx="4096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50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CLASSIFICATION FORMULAS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5"/>
          <p:cNvSpPr/>
          <p:nvPr/>
        </p:nvSpPr>
        <p:spPr>
          <a:xfrm>
            <a:off x="7543800" y="2148840"/>
            <a:ext cx="4096080" cy="95976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7726680" y="2258640"/>
            <a:ext cx="373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ADI — Average Demand Interval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7726680" y="2569320"/>
            <a:ext cx="373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b2440"/>
                </a:solidFill>
                <a:effectLst/>
                <a:uFillTx/>
                <a:latin typeface="Courier New"/>
                <a:ea typeface="Courier New"/>
              </a:rPr>
              <a:t>= Total Periods ÷ Periods with Demand &gt; 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8"/>
          <p:cNvSpPr/>
          <p:nvPr/>
        </p:nvSpPr>
        <p:spPr>
          <a:xfrm>
            <a:off x="7543800" y="3246120"/>
            <a:ext cx="4096080" cy="95976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7726680" y="3355920"/>
            <a:ext cx="373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CV² — Squared Coefficient of Variation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0"/>
          <p:cNvSpPr/>
          <p:nvPr/>
        </p:nvSpPr>
        <p:spPr>
          <a:xfrm>
            <a:off x="7726680" y="3666600"/>
            <a:ext cx="373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b2440"/>
                </a:solidFill>
                <a:effectLst/>
                <a:uFillTx/>
                <a:latin typeface="Courier New"/>
                <a:ea typeface="Courier New"/>
              </a:rPr>
              <a:t>= (Std Dev of Demand ÷ Mean Demand)²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1"/>
          <p:cNvSpPr/>
          <p:nvPr/>
        </p:nvSpPr>
        <p:spPr>
          <a:xfrm>
            <a:off x="7543800" y="4389120"/>
            <a:ext cx="4096080" cy="150840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7745040" y="4526280"/>
            <a:ext cx="3693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Cutoffs of ADI = 1.32 and CV² = 0.49 (Syntetos–Boylan–Croston) split the plane into the four classes above — both the axes and every series' forecast method key off these two figures.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7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Consensus Forecasting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548640" y="1417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The statistical baseline is a starting point, not the final answer. Consensus blends it with judgment from the commercial sales hierarchy before a version is locked for execution.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548640" y="2194560"/>
            <a:ext cx="2084400" cy="1371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1417320" y="2011680"/>
            <a:ext cx="347040" cy="3470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141732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685800" y="2423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Statistical Baseline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685800" y="297180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System-generated forecast version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2615040" y="2194560"/>
            <a:ext cx="191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2788920" y="2194560"/>
            <a:ext cx="2084400" cy="1371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3657600" y="2011680"/>
            <a:ext cx="347040" cy="3470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365760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2926080" y="2423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Sales Rep Input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2926080" y="297180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Account-level demand knowledge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4855320" y="2194560"/>
            <a:ext cx="191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5029200" y="2194560"/>
            <a:ext cx="2084400" cy="1371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5897880" y="2011680"/>
            <a:ext cx="347040" cy="3470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589788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5166360" y="2423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Regional Review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5166360" y="297180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Manager reconciles rep-level views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3"/>
          <p:cNvSpPr/>
          <p:nvPr/>
        </p:nvSpPr>
        <p:spPr>
          <a:xfrm>
            <a:off x="7095600" y="2194560"/>
            <a:ext cx="191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4"/>
          <p:cNvSpPr/>
          <p:nvPr/>
        </p:nvSpPr>
        <p:spPr>
          <a:xfrm>
            <a:off x="7269480" y="2194560"/>
            <a:ext cx="2084400" cy="1371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5"/>
          <p:cNvSpPr/>
          <p:nvPr/>
        </p:nvSpPr>
        <p:spPr>
          <a:xfrm>
            <a:off x="8138160" y="2011680"/>
            <a:ext cx="347040" cy="3470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813816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7"/>
          <p:cNvSpPr/>
          <p:nvPr/>
        </p:nvSpPr>
        <p:spPr>
          <a:xfrm>
            <a:off x="7406640" y="2423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Executive Sign-off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8"/>
          <p:cNvSpPr/>
          <p:nvPr/>
        </p:nvSpPr>
        <p:spPr>
          <a:xfrm>
            <a:off x="7406640" y="297180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National / top-of-hierarchy approval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9"/>
          <p:cNvSpPr/>
          <p:nvPr/>
        </p:nvSpPr>
        <p:spPr>
          <a:xfrm>
            <a:off x="9335880" y="2194560"/>
            <a:ext cx="191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0"/>
          <p:cNvSpPr/>
          <p:nvPr/>
        </p:nvSpPr>
        <p:spPr>
          <a:xfrm>
            <a:off x="9509760" y="2194560"/>
            <a:ext cx="2084400" cy="1371240"/>
          </a:xfrm>
          <a:prstGeom prst="roundRect">
            <a:avLst>
              <a:gd name="adj" fmla="val 6000"/>
            </a:avLst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1"/>
          <p:cNvSpPr/>
          <p:nvPr/>
        </p:nvSpPr>
        <p:spPr>
          <a:xfrm>
            <a:off x="10378440" y="2011680"/>
            <a:ext cx="347040" cy="3470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2"/>
          <p:cNvSpPr/>
          <p:nvPr/>
        </p:nvSpPr>
        <p:spPr>
          <a:xfrm>
            <a:off x="1037844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3"/>
          <p:cNvSpPr/>
          <p:nvPr/>
        </p:nvSpPr>
        <p:spPr>
          <a:xfrm>
            <a:off x="9646920" y="2423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Consensus Version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4"/>
          <p:cNvSpPr/>
          <p:nvPr/>
        </p:nvSpPr>
        <p:spPr>
          <a:xfrm>
            <a:off x="9646920" y="297180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Locked forecast, ready to execute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5"/>
          <p:cNvSpPr/>
          <p:nvPr/>
        </p:nvSpPr>
        <p:spPr>
          <a:xfrm>
            <a:off x="548640" y="3977640"/>
            <a:ext cx="11091240" cy="9140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6"/>
          <p:cNvSpPr/>
          <p:nvPr/>
        </p:nvSpPr>
        <p:spPr>
          <a:xfrm>
            <a:off x="777240" y="397764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Forecast Versions:  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3063240" y="3977640"/>
            <a:ext cx="8366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Each stage is saved as its own forecast version, so the statistical baseline is never overwritten — planners can always compare judgment against the model.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8"/>
          <p:cNvSpPr/>
          <p:nvPr/>
        </p:nvSpPr>
        <p:spPr>
          <a:xfrm>
            <a:off x="548640" y="5029200"/>
            <a:ext cx="11091240" cy="9140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9"/>
          <p:cNvSpPr/>
          <p:nvPr/>
        </p:nvSpPr>
        <p:spPr>
          <a:xfrm>
            <a:off x="777240" y="502920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Sales Hierarchy Input:  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0"/>
          <p:cNvSpPr/>
          <p:nvPr/>
        </p:nvSpPr>
        <p:spPr>
          <a:xfrm>
            <a:off x="3063240" y="5029200"/>
            <a:ext cx="8366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Inputs roll up through the same sales-node hierarchy used for aggregation, keeping commercial and statistical views on one consistent structure.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8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Disaggregation of Overrides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548640" y="14173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A planner override entered at an aggregate level has to be pushed back down to the atomic grain to become executable — that push-down is disaggregation, and the method matters.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548640" y="2331720"/>
            <a:ext cx="2011680" cy="1371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685800" y="233172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Aggregate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Override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2481480" y="2331720"/>
            <a:ext cx="456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2859840" y="23551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5875">
            <a:solidFill>
              <a:srgbClr val="00b4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3024360" y="2431080"/>
            <a:ext cx="2002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51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PROPORTIONAL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3024360" y="2796840"/>
            <a:ext cx="20023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Splits by each series' historical share of the aggregate — the default, demand-shape-aware method.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5140080" y="233856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5875">
            <a:solidFill>
              <a:srgbClr val="00b4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5304600" y="2503080"/>
            <a:ext cx="2002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51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EQUAL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5304600" y="2868840"/>
            <a:ext cx="20023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Splits the override evenly across all child series regardless of history.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7384320" y="233856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5875">
            <a:solidFill>
              <a:srgbClr val="00b4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7549200" y="2503080"/>
            <a:ext cx="2002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51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CUSTOM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7549200" y="2868840"/>
            <a:ext cx="20023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Applies planner-specified weights or ratios for exceptional cases.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8"/>
          <p:cNvSpPr/>
          <p:nvPr/>
        </p:nvSpPr>
        <p:spPr>
          <a:xfrm>
            <a:off x="10049760" y="2194560"/>
            <a:ext cx="4568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9"/>
          <p:cNvSpPr/>
          <p:nvPr/>
        </p:nvSpPr>
        <p:spPr>
          <a:xfrm>
            <a:off x="9583560" y="2331720"/>
            <a:ext cx="2011680" cy="1371240"/>
          </a:xfrm>
          <a:prstGeom prst="roundRect">
            <a:avLst>
              <a:gd name="adj" fmla="val 6000"/>
            </a:avLst>
          </a:prstGeom>
          <a:solidFill>
            <a:srgbClr val="00b4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0"/>
          <p:cNvSpPr/>
          <p:nvPr/>
        </p:nvSpPr>
        <p:spPr>
          <a:xfrm>
            <a:off x="9583560" y="2331720"/>
            <a:ext cx="1462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Atomic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Grain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1"/>
          <p:cNvSpPr/>
          <p:nvPr/>
        </p:nvSpPr>
        <p:spPr>
          <a:xfrm>
            <a:off x="548640" y="4251960"/>
            <a:ext cx="11091240" cy="201132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822960" y="443484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50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REPLACEMENT, NOT ADDITION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3"/>
          <p:cNvSpPr/>
          <p:nvPr/>
        </p:nvSpPr>
        <p:spPr>
          <a:xfrm>
            <a:off x="822960" y="480060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The override defines a new target for the aggregate, and disaggregation distributes that target down to each child series — it replaces the prior forecast lines at the atomic grain rather than adding to them. Applying it additively silently inflates the plan, which is why the disaggregation step always resolves to a target, not a delta.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>
            <a:hlinkClick r:id="rId1" action="ppaction://hlinksldjump"/>
          </p:cNvPr>
          <p:cNvSpPr/>
          <p:nvPr/>
        </p:nvSpPr>
        <p:spPr>
          <a:xfrm>
            <a:off x="10314360" y="201240"/>
            <a:ext cx="159984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10314360" y="20124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← Overview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1136592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9 / 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48640" y="320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SECTION 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548640" y="567000"/>
            <a:ext cx="877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Iterative Forecastability Search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548640" y="13716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b2440"/>
                </a:solidFill>
                <a:effectLst/>
                <a:uFillTx/>
                <a:latin typeface="Calibri"/>
                <a:ea typeface="Calibri"/>
              </a:rPr>
              <a:t>When a series is too lumpy to forecast at its native grain, the engine walks up a defined ladder of coarser levels — across location/channel/customer, sales hierarchy, product taxonomy and time — until it finds one that is forecastable.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548640" y="205740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621720" y="205740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1005840" y="205740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item_loc_dc_cust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Item × leaf location × channel × customer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9537120" y="2057400"/>
            <a:ext cx="14169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5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SHAPE A · ATOMIC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548640" y="245988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621720" y="245988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1005840" y="245988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item_loc_dc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Item × leaf location × channel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9537120" y="2459880"/>
            <a:ext cx="14169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5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SHAPE B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548640" y="286200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621720" y="286200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1005840" y="286200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item_loc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Item × leaf location only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9537120" y="2862000"/>
            <a:ext cx="14169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5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SHAPE C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8"/>
          <p:cNvSpPr/>
          <p:nvPr/>
        </p:nvSpPr>
        <p:spPr>
          <a:xfrm>
            <a:off x="548640" y="326448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621720" y="326448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0"/>
          <p:cNvSpPr/>
          <p:nvPr/>
        </p:nvSpPr>
        <p:spPr>
          <a:xfrm>
            <a:off x="1005840" y="326448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item_salesnode_{node_id}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Item rolled up to a SalesNode ancestor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1"/>
          <p:cNvSpPr/>
          <p:nvPr/>
        </p:nvSpPr>
        <p:spPr>
          <a:xfrm>
            <a:off x="548640" y="366660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2"/>
          <p:cNvSpPr/>
          <p:nvPr/>
        </p:nvSpPr>
        <p:spPr>
          <a:xfrm>
            <a:off x="621720" y="366660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1005840" y="366660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item_salesnode_top_{period}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Item at the root SalesNode, coarser period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4"/>
          <p:cNvSpPr/>
          <p:nvPr/>
        </p:nvSpPr>
        <p:spPr>
          <a:xfrm>
            <a:off x="548640" y="406908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5"/>
          <p:cNvSpPr/>
          <p:nvPr/>
        </p:nvSpPr>
        <p:spPr>
          <a:xfrm>
            <a:off x="621720" y="406908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6"/>
          <p:cNvSpPr/>
          <p:nvPr/>
        </p:nvSpPr>
        <p:spPr>
          <a:xfrm>
            <a:off x="1005840" y="406908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taxon_{node_id}_loc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Item-hierarchy-rolled variants of all the above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7"/>
          <p:cNvSpPr/>
          <p:nvPr/>
        </p:nvSpPr>
        <p:spPr>
          <a:xfrm>
            <a:off x="548640" y="447156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8"/>
          <p:cNvSpPr/>
          <p:nvPr/>
        </p:nvSpPr>
        <p:spPr>
          <a:xfrm>
            <a:off x="621720" y="447156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9"/>
          <p:cNvSpPr/>
          <p:nvPr/>
        </p:nvSpPr>
        <p:spPr>
          <a:xfrm>
            <a:off x="1005840" y="447156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taxon_{node_id}_salesnode_{sn_id}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Taxonomy-rolled item at a SalesNode ancestor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0"/>
          <p:cNvSpPr/>
          <p:nvPr/>
        </p:nvSpPr>
        <p:spPr>
          <a:xfrm>
            <a:off x="548640" y="487368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eef3fc"/>
          </a:solidFill>
          <a:ln w="9525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621720" y="487368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2"/>
          <p:cNvSpPr/>
          <p:nvPr/>
        </p:nvSpPr>
        <p:spPr>
          <a:xfrm>
            <a:off x="1005840" y="487368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taxon_{node_id}_salesnode_top_{period}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Taxonomy-rolled item, root SalesNode, coarser period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3"/>
          <p:cNvSpPr/>
          <p:nvPr/>
        </p:nvSpPr>
        <p:spPr>
          <a:xfrm>
            <a:off x="548640" y="5276160"/>
            <a:ext cx="11091240" cy="338040"/>
          </a:xfrm>
          <a:prstGeom prst="roundRect">
            <a:avLst>
              <a:gd name="adj" fmla="val 16216"/>
            </a:avLst>
          </a:prstGeom>
          <a:solidFill>
            <a:srgbClr val="f4e7e6"/>
          </a:solidFill>
          <a:ln w="9525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4"/>
          <p:cNvSpPr/>
          <p:nvPr/>
        </p:nvSpPr>
        <p:spPr>
          <a:xfrm>
            <a:off x="621720" y="5276160"/>
            <a:ext cx="292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5"/>
          <p:cNvSpPr/>
          <p:nvPr/>
        </p:nvSpPr>
        <p:spPr>
          <a:xfrm>
            <a:off x="1005840" y="5276160"/>
            <a:ext cx="8137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0392b"/>
                </a:solidFill>
                <a:effectLst/>
                <a:uFillTx/>
                <a:latin typeface="Courier New"/>
                <a:ea typeface="Courier New"/>
              </a:rPr>
              <a:t>manual</a:t>
            </a:r>
            <a:r>
              <a:rPr b="0" lang="en-US" sz="1100" strike="noStrike" u="none">
                <a:solidFill>
                  <a:srgbClr val="5a6b87"/>
                </a:solidFill>
                <a:effectLst/>
                <a:uFillTx/>
                <a:latin typeface="Calibri"/>
                <a:ea typeface="Calibri"/>
              </a:rPr>
              <a:t>   —   Entire item hierarchy exhausted — no forecastable level found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6"/>
          <p:cNvSpPr/>
          <p:nvPr/>
        </p:nvSpPr>
        <p:spPr>
          <a:xfrm>
            <a:off x="9537120" y="5276160"/>
            <a:ext cx="14169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51" strike="noStrike" u="none">
                <a:solidFill>
                  <a:srgbClr val="00b4a6"/>
                </a:solidFill>
                <a:effectLst/>
                <a:uFillTx/>
                <a:latin typeface="Calibri"/>
                <a:ea typeface="Calibri"/>
              </a:rPr>
              <a:t>FALLBACK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7"/>
          <p:cNvSpPr/>
          <p:nvPr/>
        </p:nvSpPr>
        <p:spPr>
          <a:xfrm>
            <a:off x="548640" y="5934600"/>
            <a:ext cx="11091240" cy="9140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8"/>
          <p:cNvSpPr/>
          <p:nvPr/>
        </p:nvSpPr>
        <p:spPr>
          <a:xfrm>
            <a:off x="822960" y="59346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The ladder tries the atomic item × location grains first (finest → coarsest), then the sales-hierarchy roll-ups, then repeats the same ladder against the taxonomy roll-up. If every level is still unforecastable, the series falls back to manual planning.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LibreOffice/25.2.5.2$Linux_X86_64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2026-07-22T07:49:21Z</dcterms:created>
  <dc:creator>PptxGenJS</dc:creator>
  <dc:description/>
  <dc:language>en-US</dc:language>
  <cp:lastModifiedBy/>
  <dcterms:modified xsi:type="dcterms:W3CDTF">2026-07-22T13:44:49Z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