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_rels/notesSlide9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li</a:t>
            </a: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k </a:t>
            </a: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 </a:t>
            </a: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 </a:t>
            </a: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 </a:t>
            </a: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li</a:t>
            </a: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42F499FB-9CAD-49BA-B701-01E7C087A1D2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4D2CA1E-E4E9-4022-A439-E6A282A0CE36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AB60BB7-73A5-4F76-BC57-728C403CB977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0085578-67B3-4FF7-ABB6-7B0028F45EA4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5668CE3-B869-4F74-9EF6-1A3D4C397E22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D9E6664-FA31-4C11-AF00-BC05E281A794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DE10F82-204E-482C-9A4C-124290CD86F5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4A8DB37-B660-4576-91E8-16B132646AF9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AA62204-B375-4B54-98D7-D74043BE87FF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92B7EB9-294D-4C60-96D0-3A6B02476E2C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</a:t>
            </a: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text format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.xml"/><Relationship Id="rId3" Type="http://schemas.openxmlformats.org/officeDocument/2006/relationships/slide" Target="slide2.xml"/><Relationship Id="rId4" Type="http://schemas.openxmlformats.org/officeDocument/2006/relationships/slide" Target="slide2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3.xml"/><Relationship Id="rId8" Type="http://schemas.openxmlformats.org/officeDocument/2006/relationships/slide" Target="slide3.xml"/><Relationship Id="rId9" Type="http://schemas.openxmlformats.org/officeDocument/2006/relationships/slide" Target="slide3.xml"/><Relationship Id="rId10" Type="http://schemas.openxmlformats.org/officeDocument/2006/relationships/slide" Target="slide3.xml"/><Relationship Id="rId11" Type="http://schemas.openxmlformats.org/officeDocument/2006/relationships/slide" Target="slide4.xml"/><Relationship Id="rId12" Type="http://schemas.openxmlformats.org/officeDocument/2006/relationships/slide" Target="slide4.xml"/><Relationship Id="rId13" Type="http://schemas.openxmlformats.org/officeDocument/2006/relationships/slide" Target="slide4.xml"/><Relationship Id="rId14" Type="http://schemas.openxmlformats.org/officeDocument/2006/relationships/slide" Target="slide4.xml"/><Relationship Id="rId15" Type="http://schemas.openxmlformats.org/officeDocument/2006/relationships/slide" Target="slide4.xml"/><Relationship Id="rId16" Type="http://schemas.openxmlformats.org/officeDocument/2006/relationships/slide" Target="slide5.xml"/><Relationship Id="rId17" Type="http://schemas.openxmlformats.org/officeDocument/2006/relationships/slide" Target="slide5.xml"/><Relationship Id="rId18" Type="http://schemas.openxmlformats.org/officeDocument/2006/relationships/slide" Target="slide5.xml"/><Relationship Id="rId19" Type="http://schemas.openxmlformats.org/officeDocument/2006/relationships/slide" Target="slide5.xml"/><Relationship Id="rId20" Type="http://schemas.openxmlformats.org/officeDocument/2006/relationships/slide" Target="slide5.xml"/><Relationship Id="rId21" Type="http://schemas.openxmlformats.org/officeDocument/2006/relationships/slide" Target="slide6.xml"/><Relationship Id="rId22" Type="http://schemas.openxmlformats.org/officeDocument/2006/relationships/slide" Target="slide6.xml"/><Relationship Id="rId23" Type="http://schemas.openxmlformats.org/officeDocument/2006/relationships/slide" Target="slide6.xml"/><Relationship Id="rId24" Type="http://schemas.openxmlformats.org/officeDocument/2006/relationships/slide" Target="slide6.xml"/><Relationship Id="rId25" Type="http://schemas.openxmlformats.org/officeDocument/2006/relationships/slide" Target="slide6.xml"/><Relationship Id="rId26" Type="http://schemas.openxmlformats.org/officeDocument/2006/relationships/slide" Target="slide9.xml"/><Relationship Id="rId27" Type="http://schemas.openxmlformats.org/officeDocument/2006/relationships/slide" Target="slide9.xml"/><Relationship Id="rId28" Type="http://schemas.openxmlformats.org/officeDocument/2006/relationships/slide" Target="slide9.xml"/><Relationship Id="rId29" Type="http://schemas.openxmlformats.org/officeDocument/2006/relationships/slide" Target="slide9.xml"/><Relationship Id="rId30" Type="http://schemas.openxmlformats.org/officeDocument/2006/relationships/slide" Target="slide9.xml"/><Relationship Id="rId31" Type="http://schemas.openxmlformats.org/officeDocument/2006/relationships/slide" Target="slide7.xml"/><Relationship Id="rId32" Type="http://schemas.openxmlformats.org/officeDocument/2006/relationships/slide" Target="slide7.xml"/><Relationship Id="rId33" Type="http://schemas.openxmlformats.org/officeDocument/2006/relationships/slide" Target="slide7.xml"/><Relationship Id="rId34" Type="http://schemas.openxmlformats.org/officeDocument/2006/relationships/slide" Target="slide7.xml"/><Relationship Id="rId35" Type="http://schemas.openxmlformats.org/officeDocument/2006/relationships/slide" Target="slide7.xml"/><Relationship Id="rId36" Type="http://schemas.openxmlformats.org/officeDocument/2006/relationships/slide" Target="slide8.xml"/><Relationship Id="rId37" Type="http://schemas.openxmlformats.org/officeDocument/2006/relationships/slide" Target="slide8.xml"/><Relationship Id="rId38" Type="http://schemas.openxmlformats.org/officeDocument/2006/relationships/slide" Target="slide8.xml"/><Relationship Id="rId39" Type="http://schemas.openxmlformats.org/officeDocument/2006/relationships/slide" Target="slide8.xml"/><Relationship Id="rId40" Type="http://schemas.openxmlformats.org/officeDocument/2006/relationships/slide" Target="slide8.xml"/><Relationship Id="rId41" Type="http://schemas.openxmlformats.org/officeDocument/2006/relationships/slideLayout" Target="../slideLayouts/slideLayout1.xml"/><Relationship Id="rId4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640080" y="411480"/>
            <a:ext cx="108799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300" strike="noStrike" u="none">
                <a:solidFill>
                  <a:srgbClr val="00b4a6"/>
                </a:solidFill>
                <a:effectLst/>
                <a:uFillTx/>
                <a:latin typeface="Calibri"/>
                <a:ea typeface="Calibri"/>
              </a:rPr>
              <a:t>DEMAND PLANNING &amp; FORECASTING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640080" y="731520"/>
            <a:ext cx="1087992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000" strike="noStrike" u="non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Platform Overview</a:t>
            </a:r>
            <a:endParaRPr b="0" lang="en-US" sz="4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640080" y="1417320"/>
            <a:ext cx="100569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trike="noStrike" u="non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A one-page map of the methodology — click any tile to jump to that slide, and use the ← Overview link on every slide to return here.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3">
            <a:hlinkClick r:id="rId1" action="ppaction://hlinksldjump"/>
          </p:cNvPr>
          <p:cNvSpPr/>
          <p:nvPr/>
        </p:nvSpPr>
        <p:spPr>
          <a:xfrm>
            <a:off x="640080" y="2057400"/>
            <a:ext cx="5293080" cy="926640"/>
          </a:xfrm>
          <a:prstGeom prst="roundRect">
            <a:avLst>
              <a:gd name="adj" fmla="val 8867"/>
            </a:avLst>
          </a:prstGeom>
          <a:solidFill>
            <a:srgbClr val="141a46"/>
          </a:solidFill>
          <a:ln w="12700">
            <a:solidFill>
              <a:srgbClr val="2b35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Shape 4">
            <a:hlinkClick r:id="rId2" action="ppaction://hlinksldjump"/>
          </p:cNvPr>
          <p:cNvSpPr/>
          <p:nvPr/>
        </p:nvSpPr>
        <p:spPr>
          <a:xfrm>
            <a:off x="841320" y="2320200"/>
            <a:ext cx="401040" cy="401040"/>
          </a:xfrm>
          <a:prstGeom prst="ellipse">
            <a:avLst/>
          </a:prstGeom>
          <a:solidFill>
            <a:srgbClr val="00b4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841320" y="2320200"/>
            <a:ext cx="4010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sng">
                <a:solidFill>
                  <a:srgbClr val="f2f2f2"/>
                </a:solidFill>
                <a:effectLst/>
                <a:uFillTx/>
                <a:latin typeface="Calibri"/>
                <a:ea typeface="Calibri"/>
                <a:hlinkClick r:id="rId3" action="ppaction://hlinksldjump"/>
              </a:rPr>
              <a:t>1</a:t>
            </a:r>
            <a:endParaRPr b="0" lang="en-U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6"/>
          <p:cNvSpPr/>
          <p:nvPr/>
        </p:nvSpPr>
        <p:spPr>
          <a:xfrm>
            <a:off x="1417320" y="2148840"/>
            <a:ext cx="4332960" cy="74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sng">
                <a:solidFill>
                  <a:srgbClr val="f2f2f2"/>
                </a:solidFill>
                <a:effectLst/>
                <a:uFillTx/>
                <a:latin typeface="Calibri"/>
                <a:ea typeface="Calibri"/>
                <a:hlinkClick r:id="rId4" action="ppaction://hlinksldjump"/>
              </a:rPr>
              <a:t>Introduction &amp; Business Context
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sng">
                <a:solidFill>
                  <a:srgbClr val="f2f2f2"/>
                </a:solidFill>
                <a:effectLst/>
                <a:uFillTx/>
                <a:latin typeface="Calibri"/>
                <a:ea typeface="Calibri"/>
                <a:hlinkClick r:id="rId5" action="ppaction://hlinksldjump"/>
              </a:rPr>
              <a:t>Multi-tenant SaaS platform and roadmap</a:t>
            </a:r>
            <a:endParaRPr b="0" lang="en-US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Shape 7">
            <a:hlinkClick r:id="rId6" action="ppaction://hlinksldjump"/>
          </p:cNvPr>
          <p:cNvSpPr/>
          <p:nvPr/>
        </p:nvSpPr>
        <p:spPr>
          <a:xfrm>
            <a:off x="6254640" y="2057400"/>
            <a:ext cx="5293080" cy="926640"/>
          </a:xfrm>
          <a:prstGeom prst="roundRect">
            <a:avLst>
              <a:gd name="adj" fmla="val 8867"/>
            </a:avLst>
          </a:prstGeom>
          <a:solidFill>
            <a:srgbClr val="141a46"/>
          </a:solidFill>
          <a:ln w="12700">
            <a:solidFill>
              <a:srgbClr val="2b35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8">
            <a:hlinkClick r:id="rId7" action="ppaction://hlinksldjump"/>
          </p:cNvPr>
          <p:cNvSpPr/>
          <p:nvPr/>
        </p:nvSpPr>
        <p:spPr>
          <a:xfrm>
            <a:off x="6455520" y="2320200"/>
            <a:ext cx="401040" cy="401040"/>
          </a:xfrm>
          <a:prstGeom prst="ellipse">
            <a:avLst/>
          </a:prstGeom>
          <a:solidFill>
            <a:srgbClr val="00b4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9"/>
          <p:cNvSpPr/>
          <p:nvPr/>
        </p:nvSpPr>
        <p:spPr>
          <a:xfrm>
            <a:off x="6455520" y="2320200"/>
            <a:ext cx="4010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sng">
                <a:solidFill>
                  <a:srgbClr val="f2f2f2"/>
                </a:solidFill>
                <a:effectLst/>
                <a:uFillTx/>
                <a:latin typeface="Calibri"/>
                <a:ea typeface="Calibri"/>
                <a:hlinkClick r:id="rId8" action="ppaction://hlinksldjump"/>
              </a:rPr>
              <a:t>2</a:t>
            </a:r>
            <a:endParaRPr b="0" lang="en-U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10"/>
          <p:cNvSpPr/>
          <p:nvPr/>
        </p:nvSpPr>
        <p:spPr>
          <a:xfrm>
            <a:off x="7031880" y="2148840"/>
            <a:ext cx="4332960" cy="74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sng">
                <a:solidFill>
                  <a:srgbClr val="f2f2f2"/>
                </a:solidFill>
                <a:effectLst/>
                <a:uFillTx/>
                <a:latin typeface="Calibri"/>
                <a:ea typeface="Calibri"/>
                <a:hlinkClick r:id="rId9" action="ppaction://hlinksldjump"/>
              </a:rPr>
              <a:t>What Is Forecasting?
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sng">
                <a:solidFill>
                  <a:srgbClr val="f2f2f2"/>
                </a:solidFill>
                <a:effectLst/>
                <a:uFillTx/>
                <a:latin typeface="Calibri"/>
                <a:ea typeface="Calibri"/>
                <a:hlinkClick r:id="rId10" action="ppaction://hlinksldjump"/>
              </a:rPr>
              <a:t>Forecastability across location, product &amp; time</a:t>
            </a:r>
            <a:endParaRPr b="0" lang="en-US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11">
            <a:hlinkClick r:id="rId11" action="ppaction://hlinksldjump"/>
          </p:cNvPr>
          <p:cNvSpPr/>
          <p:nvPr/>
        </p:nvSpPr>
        <p:spPr>
          <a:xfrm>
            <a:off x="640080" y="3241440"/>
            <a:ext cx="5293080" cy="926640"/>
          </a:xfrm>
          <a:prstGeom prst="roundRect">
            <a:avLst>
              <a:gd name="adj" fmla="val 8867"/>
            </a:avLst>
          </a:prstGeom>
          <a:solidFill>
            <a:srgbClr val="141a46"/>
          </a:solidFill>
          <a:ln w="12700">
            <a:solidFill>
              <a:srgbClr val="2b35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 12">
            <a:hlinkClick r:id="rId12" action="ppaction://hlinksldjump"/>
          </p:cNvPr>
          <p:cNvSpPr/>
          <p:nvPr/>
        </p:nvSpPr>
        <p:spPr>
          <a:xfrm>
            <a:off x="841320" y="3504600"/>
            <a:ext cx="401040" cy="401040"/>
          </a:xfrm>
          <a:prstGeom prst="ellipse">
            <a:avLst/>
          </a:prstGeom>
          <a:solidFill>
            <a:srgbClr val="00b4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3"/>
          <p:cNvSpPr/>
          <p:nvPr/>
        </p:nvSpPr>
        <p:spPr>
          <a:xfrm>
            <a:off x="841320" y="3504600"/>
            <a:ext cx="4010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sng">
                <a:solidFill>
                  <a:srgbClr val="f2f2f2"/>
                </a:solidFill>
                <a:effectLst/>
                <a:uFillTx/>
                <a:latin typeface="Calibri"/>
                <a:ea typeface="Calibri"/>
                <a:hlinkClick r:id="rId13" action="ppaction://hlinksldjump"/>
              </a:rPr>
              <a:t>3</a:t>
            </a:r>
            <a:endParaRPr b="0" lang="en-U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14"/>
          <p:cNvSpPr/>
          <p:nvPr/>
        </p:nvSpPr>
        <p:spPr>
          <a:xfrm>
            <a:off x="1417320" y="3332880"/>
            <a:ext cx="4332960" cy="74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sng">
                <a:solidFill>
                  <a:srgbClr val="f2f2f2"/>
                </a:solidFill>
                <a:effectLst/>
                <a:uFillTx/>
                <a:latin typeface="Calibri"/>
                <a:ea typeface="Calibri"/>
                <a:hlinkClick r:id="rId14" action="ppaction://hlinksldjump"/>
              </a:rPr>
              <a:t>Product Hierarchy Standards
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sng">
                <a:solidFill>
                  <a:srgbClr val="f2f2f2"/>
                </a:solidFill>
                <a:effectLst/>
                <a:uFillTx/>
                <a:latin typeface="Calibri"/>
                <a:ea typeface="Calibri"/>
                <a:hlinkClick r:id="rId15" action="ppaction://hlinksldjump"/>
              </a:rPr>
              <a:t>GPC and American classification structures</a:t>
            </a:r>
            <a:endParaRPr b="0" lang="en-US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15">
            <a:hlinkClick r:id="rId16" action="ppaction://hlinksldjump"/>
          </p:cNvPr>
          <p:cNvSpPr/>
          <p:nvPr/>
        </p:nvSpPr>
        <p:spPr>
          <a:xfrm>
            <a:off x="6254640" y="3241440"/>
            <a:ext cx="5293080" cy="926640"/>
          </a:xfrm>
          <a:prstGeom prst="roundRect">
            <a:avLst>
              <a:gd name="adj" fmla="val 8867"/>
            </a:avLst>
          </a:prstGeom>
          <a:solidFill>
            <a:srgbClr val="141a46"/>
          </a:solidFill>
          <a:ln w="12700">
            <a:solidFill>
              <a:srgbClr val="2b35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16">
            <a:hlinkClick r:id="rId17" action="ppaction://hlinksldjump"/>
          </p:cNvPr>
          <p:cNvSpPr/>
          <p:nvPr/>
        </p:nvSpPr>
        <p:spPr>
          <a:xfrm>
            <a:off x="6455520" y="3504600"/>
            <a:ext cx="401040" cy="401040"/>
          </a:xfrm>
          <a:prstGeom prst="ellipse">
            <a:avLst/>
          </a:prstGeom>
          <a:solidFill>
            <a:srgbClr val="00b4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7"/>
          <p:cNvSpPr/>
          <p:nvPr/>
        </p:nvSpPr>
        <p:spPr>
          <a:xfrm>
            <a:off x="6455520" y="3504600"/>
            <a:ext cx="4010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sng">
                <a:solidFill>
                  <a:srgbClr val="f2f2f2"/>
                </a:solidFill>
                <a:effectLst/>
                <a:uFillTx/>
                <a:latin typeface="Calibri"/>
                <a:ea typeface="Calibri"/>
                <a:hlinkClick r:id="rId18" action="ppaction://hlinksldjump"/>
              </a:rPr>
              <a:t>4</a:t>
            </a:r>
            <a:endParaRPr b="0" lang="en-U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18"/>
          <p:cNvSpPr/>
          <p:nvPr/>
        </p:nvSpPr>
        <p:spPr>
          <a:xfrm>
            <a:off x="7031880" y="3332880"/>
            <a:ext cx="4332960" cy="74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sng">
                <a:solidFill>
                  <a:srgbClr val="f2f2f2"/>
                </a:solidFill>
                <a:effectLst/>
                <a:uFillTx/>
                <a:latin typeface="Calibri"/>
                <a:ea typeface="Calibri"/>
                <a:hlinkClick r:id="rId19" action="ppaction://hlinksldjump"/>
              </a:rPr>
              <a:t>Sales Hierarchy Aggregation
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sng">
                <a:solidFill>
                  <a:srgbClr val="f2f2f2"/>
                </a:solidFill>
                <a:effectLst/>
                <a:uFillTx/>
                <a:latin typeface="Calibri"/>
                <a:ea typeface="Calibri"/>
                <a:hlinkClick r:id="rId20" action="ppaction://hlinksldjump"/>
              </a:rPr>
              <a:t>Rolling reps up through branch, regional &amp; sales management</a:t>
            </a:r>
            <a:endParaRPr b="0" lang="en-US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19">
            <a:hlinkClick r:id="rId21" action="ppaction://hlinksldjump"/>
          </p:cNvPr>
          <p:cNvSpPr/>
          <p:nvPr/>
        </p:nvSpPr>
        <p:spPr>
          <a:xfrm>
            <a:off x="640080" y="4425840"/>
            <a:ext cx="5293080" cy="926640"/>
          </a:xfrm>
          <a:prstGeom prst="roundRect">
            <a:avLst>
              <a:gd name="adj" fmla="val 8867"/>
            </a:avLst>
          </a:prstGeom>
          <a:solidFill>
            <a:srgbClr val="141a46"/>
          </a:solidFill>
          <a:ln w="12700">
            <a:solidFill>
              <a:srgbClr val="2b35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Shape 20">
            <a:hlinkClick r:id="rId22" action="ppaction://hlinksldjump"/>
          </p:cNvPr>
          <p:cNvSpPr/>
          <p:nvPr/>
        </p:nvSpPr>
        <p:spPr>
          <a:xfrm>
            <a:off x="841320" y="4688640"/>
            <a:ext cx="401040" cy="401040"/>
          </a:xfrm>
          <a:prstGeom prst="ellipse">
            <a:avLst/>
          </a:prstGeom>
          <a:solidFill>
            <a:srgbClr val="00b4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21"/>
          <p:cNvSpPr/>
          <p:nvPr/>
        </p:nvSpPr>
        <p:spPr>
          <a:xfrm>
            <a:off x="841320" y="4688640"/>
            <a:ext cx="4010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sng">
                <a:solidFill>
                  <a:srgbClr val="f2f2f2"/>
                </a:solidFill>
                <a:effectLst/>
                <a:uFillTx/>
                <a:latin typeface="Calibri"/>
                <a:ea typeface="Calibri"/>
                <a:hlinkClick r:id="rId23" action="ppaction://hlinksldjump"/>
              </a:rPr>
              <a:t>5</a:t>
            </a:r>
            <a:endParaRPr b="0" lang="en-U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22"/>
          <p:cNvSpPr/>
          <p:nvPr/>
        </p:nvSpPr>
        <p:spPr>
          <a:xfrm>
            <a:off x="1417320" y="4517280"/>
            <a:ext cx="4332960" cy="74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sng">
                <a:solidFill>
                  <a:srgbClr val="f2f2f2"/>
                </a:solidFill>
                <a:effectLst/>
                <a:uFillTx/>
                <a:latin typeface="Calibri"/>
                <a:ea typeface="Calibri"/>
                <a:hlinkClick r:id="rId24" action="ppaction://hlinksldjump"/>
              </a:rPr>
              <a:t>Forecastability Measures
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sng">
                <a:solidFill>
                  <a:srgbClr val="f2f2f2"/>
                </a:solidFill>
                <a:effectLst/>
                <a:uFillTx/>
                <a:latin typeface="Calibri"/>
                <a:ea typeface="Calibri"/>
                <a:hlinkClick r:id="rId25" action="ppaction://hlinksldjump"/>
              </a:rPr>
              <a:t>Smooth, Erratic, Intermittent, Lumpy</a:t>
            </a:r>
            <a:endParaRPr b="0" lang="en-US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23">
            <a:hlinkClick r:id="rId26" action="ppaction://hlinksldjump"/>
          </p:cNvPr>
          <p:cNvSpPr/>
          <p:nvPr/>
        </p:nvSpPr>
        <p:spPr>
          <a:xfrm>
            <a:off x="6254640" y="4425840"/>
            <a:ext cx="5293080" cy="926640"/>
          </a:xfrm>
          <a:prstGeom prst="roundRect">
            <a:avLst>
              <a:gd name="adj" fmla="val 8867"/>
            </a:avLst>
          </a:prstGeom>
          <a:solidFill>
            <a:srgbClr val="141a46"/>
          </a:solidFill>
          <a:ln w="12700">
            <a:solidFill>
              <a:srgbClr val="2b35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24">
            <a:hlinkClick r:id="rId27" action="ppaction://hlinksldjump"/>
          </p:cNvPr>
          <p:cNvSpPr/>
          <p:nvPr/>
        </p:nvSpPr>
        <p:spPr>
          <a:xfrm>
            <a:off x="6455520" y="4688640"/>
            <a:ext cx="401040" cy="401040"/>
          </a:xfrm>
          <a:prstGeom prst="ellipse">
            <a:avLst/>
          </a:prstGeom>
          <a:solidFill>
            <a:srgbClr val="00b4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25"/>
          <p:cNvSpPr/>
          <p:nvPr/>
        </p:nvSpPr>
        <p:spPr>
          <a:xfrm>
            <a:off x="6455520" y="4688640"/>
            <a:ext cx="4010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sng">
                <a:solidFill>
                  <a:srgbClr val="f2f2f2"/>
                </a:solidFill>
                <a:effectLst/>
                <a:uFillTx/>
                <a:latin typeface="Calibri"/>
                <a:ea typeface="Calibri"/>
                <a:hlinkClick r:id="rId28" action="ppaction://hlinksldjump"/>
              </a:rPr>
              <a:t>6</a:t>
            </a:r>
            <a:endParaRPr b="0" lang="en-U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26"/>
          <p:cNvSpPr/>
          <p:nvPr/>
        </p:nvSpPr>
        <p:spPr>
          <a:xfrm>
            <a:off x="7031880" y="4517280"/>
            <a:ext cx="4332960" cy="74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sng">
                <a:solidFill>
                  <a:srgbClr val="f2f2f2"/>
                </a:solidFill>
                <a:effectLst/>
                <a:uFillTx/>
                <a:latin typeface="Calibri"/>
                <a:ea typeface="Calibri"/>
                <a:hlinkClick r:id="rId29" action="ppaction://hlinksldjump"/>
              </a:rPr>
              <a:t>Iterative Forecastability Search
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sng">
                <a:solidFill>
                  <a:srgbClr val="f2f2f2"/>
                </a:solidFill>
                <a:effectLst/>
                <a:uFillTx/>
                <a:latin typeface="Calibri"/>
                <a:ea typeface="Calibri"/>
                <a:hlinkClick r:id="rId30" action="ppaction://hlinksldjump"/>
              </a:rPr>
              <a:t>Walking the grain hierarchy to a forecastable level</a:t>
            </a:r>
            <a:endParaRPr b="0" lang="en-US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27">
            <a:hlinkClick r:id="rId31" action="ppaction://hlinksldjump"/>
          </p:cNvPr>
          <p:cNvSpPr/>
          <p:nvPr/>
        </p:nvSpPr>
        <p:spPr>
          <a:xfrm>
            <a:off x="640080" y="5609880"/>
            <a:ext cx="5293080" cy="926640"/>
          </a:xfrm>
          <a:prstGeom prst="roundRect">
            <a:avLst>
              <a:gd name="adj" fmla="val 8867"/>
            </a:avLst>
          </a:prstGeom>
          <a:solidFill>
            <a:srgbClr val="141a46"/>
          </a:solidFill>
          <a:ln w="12700">
            <a:solidFill>
              <a:srgbClr val="2b35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28">
            <a:hlinkClick r:id="rId32" action="ppaction://hlinksldjump"/>
          </p:cNvPr>
          <p:cNvSpPr/>
          <p:nvPr/>
        </p:nvSpPr>
        <p:spPr>
          <a:xfrm>
            <a:off x="841320" y="5872680"/>
            <a:ext cx="401040" cy="401040"/>
          </a:xfrm>
          <a:prstGeom prst="ellipse">
            <a:avLst/>
          </a:prstGeom>
          <a:solidFill>
            <a:srgbClr val="00b4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29"/>
          <p:cNvSpPr/>
          <p:nvPr/>
        </p:nvSpPr>
        <p:spPr>
          <a:xfrm>
            <a:off x="841320" y="5872680"/>
            <a:ext cx="4010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sng">
                <a:solidFill>
                  <a:srgbClr val="f2f2f2"/>
                </a:solidFill>
                <a:effectLst/>
                <a:uFillTx/>
                <a:latin typeface="Calibri"/>
                <a:ea typeface="Calibri"/>
                <a:hlinkClick r:id="rId33" action="ppaction://hlinksldjump"/>
              </a:rPr>
              <a:t>7</a:t>
            </a:r>
            <a:endParaRPr b="0" lang="en-U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30"/>
          <p:cNvSpPr/>
          <p:nvPr/>
        </p:nvSpPr>
        <p:spPr>
          <a:xfrm>
            <a:off x="1417320" y="5701320"/>
            <a:ext cx="4332960" cy="74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sng">
                <a:solidFill>
                  <a:srgbClr val="f2f2f2"/>
                </a:solidFill>
                <a:effectLst/>
                <a:uFillTx/>
                <a:latin typeface="Calibri"/>
                <a:ea typeface="Calibri"/>
                <a:hlinkClick r:id="rId34" action="ppaction://hlinksldjump"/>
              </a:rPr>
              <a:t>Consensus Forecasting
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sng">
                <a:solidFill>
                  <a:srgbClr val="f2f2f2"/>
                </a:solidFill>
                <a:effectLst/>
                <a:uFillTx/>
                <a:latin typeface="Calibri"/>
                <a:ea typeface="Calibri"/>
                <a:hlinkClick r:id="rId35" action="ppaction://hlinksldjump"/>
              </a:rPr>
              <a:t>Blending statistics with the sales hierarchy</a:t>
            </a:r>
            <a:endParaRPr b="0" lang="en-US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31">
            <a:hlinkClick r:id="rId36" action="ppaction://hlinksldjump"/>
          </p:cNvPr>
          <p:cNvSpPr/>
          <p:nvPr/>
        </p:nvSpPr>
        <p:spPr>
          <a:xfrm>
            <a:off x="6254640" y="5609880"/>
            <a:ext cx="5293080" cy="926640"/>
          </a:xfrm>
          <a:prstGeom prst="roundRect">
            <a:avLst>
              <a:gd name="adj" fmla="val 8867"/>
            </a:avLst>
          </a:prstGeom>
          <a:solidFill>
            <a:srgbClr val="141a46"/>
          </a:solidFill>
          <a:ln w="12700">
            <a:solidFill>
              <a:srgbClr val="2b35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32">
            <a:hlinkClick r:id="rId37" action="ppaction://hlinksldjump"/>
          </p:cNvPr>
          <p:cNvSpPr/>
          <p:nvPr/>
        </p:nvSpPr>
        <p:spPr>
          <a:xfrm>
            <a:off x="6455520" y="5872680"/>
            <a:ext cx="401040" cy="401040"/>
          </a:xfrm>
          <a:prstGeom prst="ellipse">
            <a:avLst/>
          </a:prstGeom>
          <a:solidFill>
            <a:srgbClr val="00b4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33"/>
          <p:cNvSpPr/>
          <p:nvPr/>
        </p:nvSpPr>
        <p:spPr>
          <a:xfrm>
            <a:off x="6455520" y="5872680"/>
            <a:ext cx="4010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sng">
                <a:solidFill>
                  <a:srgbClr val="f2f2f2"/>
                </a:solidFill>
                <a:effectLst/>
                <a:uFillTx/>
                <a:latin typeface="Calibri"/>
                <a:ea typeface="Calibri"/>
                <a:hlinkClick r:id="rId38" action="ppaction://hlinksldjump"/>
              </a:rPr>
              <a:t>8</a:t>
            </a:r>
            <a:endParaRPr b="0" lang="en-U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34"/>
          <p:cNvSpPr/>
          <p:nvPr/>
        </p:nvSpPr>
        <p:spPr>
          <a:xfrm>
            <a:off x="7031880" y="5701320"/>
            <a:ext cx="4332960" cy="74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sng">
                <a:solidFill>
                  <a:srgbClr val="f2f2f2"/>
                </a:solidFill>
                <a:effectLst/>
                <a:uFillTx/>
                <a:latin typeface="Calibri"/>
                <a:ea typeface="Calibri"/>
                <a:hlinkClick r:id="rId39" action="ppaction://hlinksldjump"/>
              </a:rPr>
              <a:t>Disaggregation of Overrides
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sng">
                <a:solidFill>
                  <a:srgbClr val="f2f2f2"/>
                </a:solidFill>
                <a:effectLst/>
                <a:uFillTx/>
                <a:latin typeface="Calibri"/>
                <a:ea typeface="Calibri"/>
                <a:hlinkClick r:id="rId40" action="ppaction://hlinksldjump"/>
              </a:rPr>
              <a:t>Proportional, Equal &amp; Custom methods</a:t>
            </a:r>
            <a:endParaRPr b="0" lang="en-US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Shape 0">
            <a:hlinkClick r:id="rId1" action="ppaction://hlinksldjump"/>
          </p:cNvPr>
          <p:cNvSpPr/>
          <p:nvPr/>
        </p:nvSpPr>
        <p:spPr>
          <a:xfrm>
            <a:off x="10314360" y="201240"/>
            <a:ext cx="1598760" cy="36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1"/>
          <p:cNvSpPr/>
          <p:nvPr/>
        </p:nvSpPr>
        <p:spPr>
          <a:xfrm>
            <a:off x="10314360" y="201240"/>
            <a:ext cx="1598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sng">
                <a:solidFill>
                  <a:srgbClr val="f2f2f2"/>
                </a:solidFill>
                <a:effectLst/>
                <a:uFillTx/>
                <a:latin typeface="Calibri"/>
                <a:ea typeface="Calibri"/>
                <a:hlinkClick r:id="rId2" action="ppaction://hlinksldjump"/>
              </a:rPr>
              <a:t>← Overview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2"/>
          <p:cNvSpPr/>
          <p:nvPr/>
        </p:nvSpPr>
        <p:spPr>
          <a:xfrm>
            <a:off x="11365920" y="649224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5a6b87"/>
                </a:solidFill>
                <a:effectLst/>
                <a:uFillTx/>
                <a:latin typeface="Calibri"/>
                <a:ea typeface="Calibri"/>
              </a:rPr>
              <a:t>2 / 9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3"/>
          <p:cNvSpPr/>
          <p:nvPr/>
        </p:nvSpPr>
        <p:spPr>
          <a:xfrm>
            <a:off x="548640" y="32004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201" strike="noStrike" u="none">
                <a:solidFill>
                  <a:srgbClr val="00b4a6"/>
                </a:solidFill>
                <a:effectLst/>
                <a:uFillTx/>
                <a:latin typeface="Calibri"/>
                <a:ea typeface="Calibri"/>
              </a:rPr>
              <a:t>SECTION 1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4"/>
          <p:cNvSpPr/>
          <p:nvPr/>
        </p:nvSpPr>
        <p:spPr>
          <a:xfrm>
            <a:off x="548640" y="567000"/>
            <a:ext cx="877680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1e2761"/>
                </a:solidFill>
                <a:effectLst/>
                <a:uFillTx/>
                <a:latin typeface="Cambria"/>
                <a:ea typeface="Cambria"/>
              </a:rPr>
              <a:t>Introduction &amp; Business Context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5"/>
          <p:cNvSpPr/>
          <p:nvPr/>
        </p:nvSpPr>
        <p:spPr>
          <a:xfrm>
            <a:off x="548640" y="1417320"/>
            <a:ext cx="557640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50" strike="noStrike" u="none">
                <a:solidFill>
                  <a:srgbClr val="1b2440"/>
                </a:solidFill>
                <a:effectLst/>
                <a:uFillTx/>
                <a:latin typeface="Calibri"/>
                <a:ea typeface="Calibri"/>
              </a:rPr>
              <a:t>A multi-tenant demand planning &amp; forecasting SaaS platform serving multiple client organizations from a single, secure codebase.</a:t>
            </a:r>
            <a:endParaRPr b="0" lang="en-US" sz="14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6"/>
          <p:cNvSpPr/>
          <p:nvPr/>
        </p:nvSpPr>
        <p:spPr>
          <a:xfrm>
            <a:off x="548640" y="2331720"/>
            <a:ext cx="364320" cy="364320"/>
          </a:xfrm>
          <a:prstGeom prst="ellipse">
            <a:avLst/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7"/>
          <p:cNvSpPr/>
          <p:nvPr/>
        </p:nvSpPr>
        <p:spPr>
          <a:xfrm>
            <a:off x="548640" y="2331720"/>
            <a:ext cx="3643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8"/>
          <p:cNvSpPr/>
          <p:nvPr/>
        </p:nvSpPr>
        <p:spPr>
          <a:xfrm>
            <a:off x="1097280" y="2286000"/>
            <a:ext cx="507348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trike="noStrike" u="none">
                <a:solidFill>
                  <a:srgbClr val="1b2440"/>
                </a:solidFill>
                <a:effectLst/>
                <a:uFillTx/>
                <a:latin typeface="Calibri"/>
                <a:ea typeface="Calibri"/>
              </a:rPr>
              <a:t>Every dataset — actuals, forecasts, taxonomy, locations — is scoped per client, so tenants never see each other's data.</a:t>
            </a:r>
            <a:endParaRPr b="0" lang="en-US" sz="12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9"/>
          <p:cNvSpPr/>
          <p:nvPr/>
        </p:nvSpPr>
        <p:spPr>
          <a:xfrm>
            <a:off x="548640" y="3044880"/>
            <a:ext cx="364320" cy="364320"/>
          </a:xfrm>
          <a:prstGeom prst="ellipse">
            <a:avLst/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10"/>
          <p:cNvSpPr/>
          <p:nvPr/>
        </p:nvSpPr>
        <p:spPr>
          <a:xfrm>
            <a:off x="548640" y="3044880"/>
            <a:ext cx="3643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1"/>
          <p:cNvSpPr/>
          <p:nvPr/>
        </p:nvSpPr>
        <p:spPr>
          <a:xfrm>
            <a:off x="1097280" y="2999160"/>
            <a:ext cx="507348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trike="noStrike" u="none">
                <a:solidFill>
                  <a:srgbClr val="1b2440"/>
                </a:solidFill>
                <a:effectLst/>
                <a:uFillTx/>
                <a:latin typeface="Calibri"/>
                <a:ea typeface="Calibri"/>
              </a:rPr>
              <a:t>Built to turn historical demand into forecasts planners can trust, override with judgment, and execute against.</a:t>
            </a:r>
            <a:endParaRPr b="0" lang="en-US" sz="12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12"/>
          <p:cNvSpPr/>
          <p:nvPr/>
        </p:nvSpPr>
        <p:spPr>
          <a:xfrm>
            <a:off x="548640" y="3758040"/>
            <a:ext cx="364320" cy="364320"/>
          </a:xfrm>
          <a:prstGeom prst="ellipse">
            <a:avLst/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13"/>
          <p:cNvSpPr/>
          <p:nvPr/>
        </p:nvSpPr>
        <p:spPr>
          <a:xfrm>
            <a:off x="548640" y="3758040"/>
            <a:ext cx="3643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14"/>
          <p:cNvSpPr/>
          <p:nvPr/>
        </p:nvSpPr>
        <p:spPr>
          <a:xfrm>
            <a:off x="1097280" y="3712320"/>
            <a:ext cx="507348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trike="noStrike" u="none">
                <a:solidFill>
                  <a:srgbClr val="1b2440"/>
                </a:solidFill>
                <a:effectLst/>
                <a:uFillTx/>
                <a:latin typeface="Calibri"/>
                <a:ea typeface="Calibri"/>
              </a:rPr>
              <a:t>Designed to grow with the business: today's demand plan is the foundation for tomorrow's inventory and eCommerce decisions.</a:t>
            </a:r>
            <a:endParaRPr b="0" lang="en-US" sz="12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15"/>
          <p:cNvSpPr/>
          <p:nvPr/>
        </p:nvSpPr>
        <p:spPr>
          <a:xfrm>
            <a:off x="6492240" y="1417320"/>
            <a:ext cx="5119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201" strike="noStrike" u="none">
                <a:solidFill>
                  <a:srgbClr val="00b4a6"/>
                </a:solidFill>
                <a:effectLst/>
                <a:uFillTx/>
                <a:latin typeface="Calibri"/>
                <a:ea typeface="Calibri"/>
              </a:rPr>
              <a:t>PLATFORM ROADMAP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Shape 16"/>
          <p:cNvSpPr/>
          <p:nvPr/>
        </p:nvSpPr>
        <p:spPr>
          <a:xfrm>
            <a:off x="6492240" y="1828800"/>
            <a:ext cx="5119200" cy="1297080"/>
          </a:xfrm>
          <a:prstGeom prst="roundRect">
            <a:avLst>
              <a:gd name="adj" fmla="val 6338"/>
            </a:avLst>
          </a:prstGeom>
          <a:solidFill>
            <a:srgbClr val="1e2761"/>
          </a:solidFill>
          <a:ln w="12700">
            <a:solidFill>
              <a:srgbClr val="1e276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17"/>
          <p:cNvSpPr/>
          <p:nvPr/>
        </p:nvSpPr>
        <p:spPr>
          <a:xfrm>
            <a:off x="6766560" y="1974960"/>
            <a:ext cx="45705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99" strike="noStrike" u="none">
                <a:solidFill>
                  <a:srgbClr val="00b4a6"/>
                </a:solidFill>
                <a:effectLst/>
                <a:uFillTx/>
                <a:latin typeface="Calibri"/>
                <a:ea typeface="Calibri"/>
              </a:rPr>
              <a:t>PHASE 1 — CURRENT FOCUS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18"/>
          <p:cNvSpPr/>
          <p:nvPr/>
        </p:nvSpPr>
        <p:spPr>
          <a:xfrm>
            <a:off x="6766560" y="2231280"/>
            <a:ext cx="45705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trike="noStrike" u="non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Demand Planning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9"/>
          <p:cNvSpPr/>
          <p:nvPr/>
        </p:nvSpPr>
        <p:spPr>
          <a:xfrm>
            <a:off x="6766560" y="2615040"/>
            <a:ext cx="45705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Forecasting, consensus &amp; series profiles</a:t>
            </a:r>
            <a:endParaRPr b="0" lang="en-US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20"/>
          <p:cNvSpPr/>
          <p:nvPr/>
        </p:nvSpPr>
        <p:spPr>
          <a:xfrm>
            <a:off x="6492240" y="3310200"/>
            <a:ext cx="5119200" cy="1297080"/>
          </a:xfrm>
          <a:prstGeom prst="roundRect">
            <a:avLst>
              <a:gd name="adj" fmla="val 6338"/>
            </a:avLst>
          </a:prstGeom>
          <a:solidFill>
            <a:srgbClr val="eef3fc"/>
          </a:solidFill>
          <a:ln w="12700">
            <a:solidFill>
              <a:srgbClr val="cadcf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21"/>
          <p:cNvSpPr/>
          <p:nvPr/>
        </p:nvSpPr>
        <p:spPr>
          <a:xfrm>
            <a:off x="6766560" y="3456360"/>
            <a:ext cx="45705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99" strike="noStrike" u="none">
                <a:solidFill>
                  <a:srgbClr val="5a6b87"/>
                </a:solidFill>
                <a:effectLst/>
                <a:uFillTx/>
                <a:latin typeface="Calibri"/>
                <a:ea typeface="Calibri"/>
              </a:rPr>
              <a:t>PHASE 2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22"/>
          <p:cNvSpPr/>
          <p:nvPr/>
        </p:nvSpPr>
        <p:spPr>
          <a:xfrm>
            <a:off x="6766560" y="3712320"/>
            <a:ext cx="45705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trike="noStrike" u="none">
                <a:solidFill>
                  <a:srgbClr val="1e2761"/>
                </a:solidFill>
                <a:effectLst/>
                <a:uFillTx/>
                <a:latin typeface="Cambria"/>
                <a:ea typeface="Cambria"/>
              </a:rPr>
              <a:t>Inventory Decision Engine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23"/>
          <p:cNvSpPr/>
          <p:nvPr/>
        </p:nvSpPr>
        <p:spPr>
          <a:xfrm>
            <a:off x="6766560" y="4096440"/>
            <a:ext cx="45705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5a6b87"/>
                </a:solidFill>
                <a:effectLst/>
                <a:uFillTx/>
                <a:latin typeface="Calibri"/>
                <a:ea typeface="Calibri"/>
              </a:rPr>
              <a:t>Safety stock, replenishment &amp; allocation</a:t>
            </a:r>
            <a:endParaRPr b="0" lang="en-US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Shape 24"/>
          <p:cNvSpPr/>
          <p:nvPr/>
        </p:nvSpPr>
        <p:spPr>
          <a:xfrm>
            <a:off x="6492240" y="4791600"/>
            <a:ext cx="5119200" cy="1297080"/>
          </a:xfrm>
          <a:prstGeom prst="roundRect">
            <a:avLst>
              <a:gd name="adj" fmla="val 6338"/>
            </a:avLst>
          </a:prstGeom>
          <a:solidFill>
            <a:srgbClr val="eef3fc"/>
          </a:solidFill>
          <a:ln w="12700">
            <a:solidFill>
              <a:srgbClr val="cadcf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25"/>
          <p:cNvSpPr/>
          <p:nvPr/>
        </p:nvSpPr>
        <p:spPr>
          <a:xfrm>
            <a:off x="6766560" y="4937760"/>
            <a:ext cx="45705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99" strike="noStrike" u="none">
                <a:solidFill>
                  <a:srgbClr val="5a6b87"/>
                </a:solidFill>
                <a:effectLst/>
                <a:uFillTx/>
                <a:latin typeface="Calibri"/>
                <a:ea typeface="Calibri"/>
              </a:rPr>
              <a:t>PHASE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26"/>
          <p:cNvSpPr/>
          <p:nvPr/>
        </p:nvSpPr>
        <p:spPr>
          <a:xfrm>
            <a:off x="6766560" y="5193720"/>
            <a:ext cx="45705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trike="noStrike" u="none">
                <a:solidFill>
                  <a:srgbClr val="1e2761"/>
                </a:solidFill>
                <a:effectLst/>
                <a:uFillTx/>
                <a:latin typeface="Cambria"/>
                <a:ea typeface="Cambria"/>
              </a:rPr>
              <a:t>eCommerce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27"/>
          <p:cNvSpPr/>
          <p:nvPr/>
        </p:nvSpPr>
        <p:spPr>
          <a:xfrm>
            <a:off x="6766560" y="5577840"/>
            <a:ext cx="45705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5a6b87"/>
                </a:solidFill>
                <a:effectLst/>
                <a:uFillTx/>
                <a:latin typeface="Calibri"/>
                <a:ea typeface="Calibri"/>
              </a:rPr>
              <a:t>Channel-aware planning &amp; fulfillment</a:t>
            </a:r>
            <a:endParaRPr b="0" lang="en-US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70"/>
          <p:cNvSpPr/>
          <p:nvPr/>
        </p:nvSpPr>
        <p:spPr>
          <a:xfrm>
            <a:off x="548640" y="4460040"/>
            <a:ext cx="569880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rIns="45000" tIns="18000" bIns="18000" anchor="t">
            <a:spAutoFit/>
          </a:bodyPr>
          <a:p>
            <a:pPr>
              <a:lnSpc>
                <a:spcPct val="100000"/>
              </a:lnSpc>
            </a:pPr>
            <a:r>
              <a:rPr b="1" lang="en-US" sz="1100" strike="noStrike" u="none">
                <a:solidFill>
                  <a:srgbClr val="00b4a6"/>
                </a:solidFill>
                <a:effectLst/>
                <a:uFillTx/>
                <a:latin typeface="Calibri"/>
              </a:rPr>
              <a:t>DATA QUALITY &amp; ITEM LIFECYCLE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548640" y="4880160"/>
            <a:ext cx="1918800" cy="1378800"/>
          </a:xfrm>
          <a:prstGeom prst="roundRect">
            <a:avLst>
              <a:gd name="adj" fmla="val 16667"/>
            </a:avLst>
          </a:prstGeom>
          <a:solidFill>
            <a:srgbClr val="eef3fc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Oval 72"/>
          <p:cNvSpPr/>
          <p:nvPr/>
        </p:nvSpPr>
        <p:spPr>
          <a:xfrm>
            <a:off x="648720" y="4960080"/>
            <a:ext cx="298800" cy="29880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6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A</a:t>
            </a:r>
            <a:endParaRPr b="0" lang="en-U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73"/>
          <p:cNvSpPr/>
          <p:nvPr/>
        </p:nvSpPr>
        <p:spPr>
          <a:xfrm>
            <a:off x="1008720" y="4960080"/>
            <a:ext cx="1359000" cy="35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rIns="45000" tIns="18000" bIns="18000" anchor="ctr">
            <a:spAutoFit/>
          </a:bodyPr>
          <a:p>
            <a:pPr>
              <a:lnSpc>
                <a:spcPct val="100000"/>
              </a:lnSpc>
            </a:pPr>
            <a:r>
              <a:rPr b="1" lang="en-US" sz="1400" strike="noStrike" u="none">
                <a:solidFill>
                  <a:srgbClr val="1e2761"/>
                </a:solidFill>
                <a:effectLst/>
                <a:uFillTx/>
                <a:latin typeface="Cambria"/>
              </a:rPr>
              <a:t>Outlier Management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74"/>
          <p:cNvSpPr/>
          <p:nvPr/>
        </p:nvSpPr>
        <p:spPr>
          <a:xfrm>
            <a:off x="678600" y="5379840"/>
            <a:ext cx="1658880" cy="79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rIns="45000" tIns="18000" bIns="18000" anchor="t">
            <a:spAutoFit/>
          </a:bodyPr>
          <a:p>
            <a:pPr>
              <a:lnSpc>
                <a:spcPct val="100000"/>
              </a:lnSpc>
            </a:pPr>
            <a:r>
              <a:rPr b="0" lang="en-US" sz="1000" strike="noStrike" u="none">
                <a:solidFill>
                  <a:srgbClr val="1b2440"/>
                </a:solidFill>
                <a:effectLst/>
                <a:uFillTx/>
                <a:latin typeface="Calibri"/>
              </a:rPr>
              <a:t>Flags demand anomalies by threshold detection; planner-confirmed adjustments net them out so every model sees clean actuals.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Rounded Rectangle 75"/>
          <p:cNvSpPr/>
          <p:nvPr/>
        </p:nvSpPr>
        <p:spPr>
          <a:xfrm>
            <a:off x="2528640" y="4880160"/>
            <a:ext cx="1918800" cy="1378800"/>
          </a:xfrm>
          <a:prstGeom prst="roundRect">
            <a:avLst>
              <a:gd name="adj" fmla="val 16667"/>
            </a:avLst>
          </a:prstGeom>
          <a:solidFill>
            <a:srgbClr val="eef3fc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" name="Oval 76"/>
          <p:cNvSpPr/>
          <p:nvPr/>
        </p:nvSpPr>
        <p:spPr>
          <a:xfrm>
            <a:off x="2628720" y="4960080"/>
            <a:ext cx="298800" cy="29880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6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B</a:t>
            </a:r>
            <a:endParaRPr b="0" lang="en-U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77"/>
          <p:cNvSpPr/>
          <p:nvPr/>
        </p:nvSpPr>
        <p:spPr>
          <a:xfrm>
            <a:off x="2988720" y="4960080"/>
            <a:ext cx="1359000" cy="35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rIns="45000" tIns="18000" bIns="18000" anchor="ctr">
            <a:spAutoFit/>
          </a:bodyPr>
          <a:p>
            <a:pPr>
              <a:lnSpc>
                <a:spcPct val="100000"/>
              </a:lnSpc>
            </a:pPr>
            <a:r>
              <a:rPr b="1" lang="en-US" sz="1400" strike="noStrike" u="none">
                <a:solidFill>
                  <a:srgbClr val="1e2761"/>
                </a:solidFill>
                <a:effectLst/>
                <a:uFillTx/>
                <a:latin typeface="Cambria"/>
              </a:rPr>
              <a:t>Scheme Management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78"/>
          <p:cNvSpPr/>
          <p:nvPr/>
        </p:nvSpPr>
        <p:spPr>
          <a:xfrm>
            <a:off x="2658600" y="5379840"/>
            <a:ext cx="1658880" cy="81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rIns="45000" tIns="18000" bIns="18000" anchor="t">
            <a:spAutoFit/>
          </a:bodyPr>
          <a:p>
            <a:pPr>
              <a:lnSpc>
                <a:spcPct val="100000"/>
              </a:lnSpc>
            </a:pPr>
            <a:r>
              <a:rPr b="0" lang="en-US" sz="1000" strike="noStrike" u="none">
                <a:solidFill>
                  <a:srgbClr val="1b2440"/>
                </a:solidFill>
                <a:effectLst/>
                <a:uFillTx/>
                <a:latin typeface="Calibri"/>
              </a:rPr>
              <a:t>Promo periods divide by (1 + uplift) and shadow shares are added back, so planned uplifts shape — not poison — the baseline.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4508640" y="4880160"/>
            <a:ext cx="1918800" cy="1378800"/>
          </a:xfrm>
          <a:prstGeom prst="roundRect">
            <a:avLst>
              <a:gd name="adj" fmla="val 16667"/>
            </a:avLst>
          </a:prstGeom>
          <a:solidFill>
            <a:srgbClr val="eef3fc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" name="Oval 80"/>
          <p:cNvSpPr/>
          <p:nvPr/>
        </p:nvSpPr>
        <p:spPr>
          <a:xfrm>
            <a:off x="4608720" y="4960080"/>
            <a:ext cx="298800" cy="29880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6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C</a:t>
            </a:r>
            <a:endParaRPr b="0" lang="en-U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81"/>
          <p:cNvSpPr/>
          <p:nvPr/>
        </p:nvSpPr>
        <p:spPr>
          <a:xfrm>
            <a:off x="4968720" y="4960080"/>
            <a:ext cx="1359000" cy="35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rIns="45000" tIns="18000" bIns="18000" anchor="ctr">
            <a:spAutoFit/>
          </a:bodyPr>
          <a:p>
            <a:pPr>
              <a:lnSpc>
                <a:spcPct val="100000"/>
              </a:lnSpc>
            </a:pPr>
            <a:r>
              <a:rPr b="1" lang="en-US" sz="1400" strike="noStrike" u="none">
                <a:solidFill>
                  <a:srgbClr val="1e2761"/>
                </a:solidFill>
                <a:effectLst/>
                <a:uFillTx/>
                <a:latin typeface="Cambria"/>
              </a:rPr>
              <a:t>Item Lifecycle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82"/>
          <p:cNvSpPr/>
          <p:nvPr/>
        </p:nvSpPr>
        <p:spPr>
          <a:xfrm>
            <a:off x="4638600" y="5379840"/>
            <a:ext cx="1658880" cy="81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rIns="45000" tIns="18000" bIns="18000" anchor="t">
            <a:spAutoFit/>
          </a:bodyPr>
          <a:p>
            <a:pPr>
              <a:lnSpc>
                <a:spcPct val="100000"/>
              </a:lnSpc>
            </a:pPr>
            <a:r>
              <a:rPr b="0" lang="en-US" sz="1000" strike="noStrike" u="none">
                <a:solidFill>
                  <a:srgbClr val="1b2440"/>
                </a:solidFill>
                <a:effectLst/>
                <a:uFillTx/>
                <a:latin typeface="Calibri"/>
              </a:rPr>
              <a:t>Retired codes convert to the successor; discontinued items forecast nil; new items borrow a reference forecast until history accrues.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Shape 0">
            <a:hlinkClick r:id="rId1" action="ppaction://hlinksldjump"/>
          </p:cNvPr>
          <p:cNvSpPr/>
          <p:nvPr/>
        </p:nvSpPr>
        <p:spPr>
          <a:xfrm>
            <a:off x="10314360" y="201240"/>
            <a:ext cx="1598760" cy="36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1"/>
          <p:cNvSpPr/>
          <p:nvPr/>
        </p:nvSpPr>
        <p:spPr>
          <a:xfrm>
            <a:off x="10314360" y="201240"/>
            <a:ext cx="1598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sng">
                <a:solidFill>
                  <a:srgbClr val="f2f2f2"/>
                </a:solidFill>
                <a:effectLst/>
                <a:uFillTx/>
                <a:latin typeface="Calibri"/>
                <a:ea typeface="Calibri"/>
                <a:hlinkClick r:id="rId2" action="ppaction://hlinksldjump"/>
              </a:rPr>
              <a:t>← Overview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2"/>
          <p:cNvSpPr/>
          <p:nvPr/>
        </p:nvSpPr>
        <p:spPr>
          <a:xfrm>
            <a:off x="11365920" y="649224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5a6b87"/>
                </a:solidFill>
                <a:effectLst/>
                <a:uFillTx/>
                <a:latin typeface="Calibri"/>
                <a:ea typeface="Calibri"/>
              </a:rPr>
              <a:t>3 / 9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3"/>
          <p:cNvSpPr/>
          <p:nvPr/>
        </p:nvSpPr>
        <p:spPr>
          <a:xfrm>
            <a:off x="548640" y="32004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201" strike="noStrike" u="none">
                <a:solidFill>
                  <a:srgbClr val="00b4a6"/>
                </a:solidFill>
                <a:effectLst/>
                <a:uFillTx/>
                <a:latin typeface="Calibri"/>
                <a:ea typeface="Calibri"/>
              </a:rPr>
              <a:t>SECTION 2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4"/>
          <p:cNvSpPr/>
          <p:nvPr/>
        </p:nvSpPr>
        <p:spPr>
          <a:xfrm>
            <a:off x="548640" y="567000"/>
            <a:ext cx="877680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1e2761"/>
                </a:solidFill>
                <a:effectLst/>
                <a:uFillTx/>
                <a:latin typeface="Cambria"/>
                <a:ea typeface="Cambria"/>
              </a:rPr>
              <a:t>What Is Forecasting?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5"/>
          <p:cNvSpPr/>
          <p:nvPr/>
        </p:nvSpPr>
        <p:spPr>
          <a:xfrm>
            <a:off x="548640" y="1417320"/>
            <a:ext cx="110628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1b2440"/>
                </a:solidFill>
                <a:effectLst/>
                <a:uFillTx/>
                <a:latin typeface="Calibri"/>
                <a:ea typeface="Calibri"/>
              </a:rPr>
              <a:t>Forecasting projects future demand from historical actuals. Its accuracy is never fixed — it depends heavily on the level at which demand is aggregated before a model sees it.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6"/>
          <p:cNvSpPr/>
          <p:nvPr/>
        </p:nvSpPr>
        <p:spPr>
          <a:xfrm>
            <a:off x="548640" y="2148840"/>
            <a:ext cx="10971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150" strike="noStrike" u="none">
                <a:solidFill>
                  <a:srgbClr val="00b4a6"/>
                </a:solidFill>
                <a:effectLst/>
                <a:uFillTx/>
                <a:latin typeface="Calibri"/>
                <a:ea typeface="Calibri"/>
              </a:rPr>
              <a:t>FORECASTABILITY IMPROVES AS YOU AGGREGATE ACROSS THREE AXES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7"/>
          <p:cNvSpPr/>
          <p:nvPr/>
        </p:nvSpPr>
        <p:spPr>
          <a:xfrm>
            <a:off x="548640" y="2560320"/>
            <a:ext cx="3519000" cy="2330280"/>
          </a:xfrm>
          <a:prstGeom prst="roundRect">
            <a:avLst>
              <a:gd name="adj" fmla="val 3922"/>
            </a:avLst>
          </a:prstGeom>
          <a:solidFill>
            <a:srgbClr val="eef3fc"/>
          </a:solidFill>
          <a:ln w="12700">
            <a:solidFill>
              <a:srgbClr val="cadcf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8"/>
          <p:cNvSpPr/>
          <p:nvPr/>
        </p:nvSpPr>
        <p:spPr>
          <a:xfrm>
            <a:off x="822960" y="2834640"/>
            <a:ext cx="501480" cy="501480"/>
          </a:xfrm>
          <a:prstGeom prst="ellipse">
            <a:avLst/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9"/>
          <p:cNvSpPr/>
          <p:nvPr/>
        </p:nvSpPr>
        <p:spPr>
          <a:xfrm>
            <a:off x="822960" y="283464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10"/>
          <p:cNvSpPr/>
          <p:nvPr/>
        </p:nvSpPr>
        <p:spPr>
          <a:xfrm>
            <a:off x="804600" y="3474720"/>
            <a:ext cx="30160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50" strike="noStrike" u="none">
                <a:solidFill>
                  <a:srgbClr val="1e2761"/>
                </a:solidFill>
                <a:effectLst/>
                <a:uFillTx/>
                <a:latin typeface="Cambria"/>
                <a:ea typeface="Cambria"/>
              </a:rPr>
              <a:t>Sales Hierarchy Aggregation</a:t>
            </a:r>
            <a:endParaRPr b="0" lang="en-US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11"/>
          <p:cNvSpPr/>
          <p:nvPr/>
        </p:nvSpPr>
        <p:spPr>
          <a:xfrm>
            <a:off x="804600" y="4023360"/>
            <a:ext cx="301608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1b2440"/>
                </a:solidFill>
                <a:effectLst/>
                <a:uFillTx/>
                <a:latin typeface="Calibri"/>
                <a:ea typeface="Calibri"/>
              </a:rPr>
              <a:t>Rep → branch → regional → sales manager smooths account noise</a:t>
            </a:r>
            <a:endParaRPr b="0" lang="en-US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12"/>
          <p:cNvSpPr/>
          <p:nvPr/>
        </p:nvSpPr>
        <p:spPr>
          <a:xfrm>
            <a:off x="4343400" y="2560320"/>
            <a:ext cx="3519000" cy="2330280"/>
          </a:xfrm>
          <a:prstGeom prst="roundRect">
            <a:avLst>
              <a:gd name="adj" fmla="val 3922"/>
            </a:avLst>
          </a:prstGeom>
          <a:solidFill>
            <a:srgbClr val="eef3fc"/>
          </a:solidFill>
          <a:ln w="12700">
            <a:solidFill>
              <a:srgbClr val="cadcf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13"/>
          <p:cNvSpPr/>
          <p:nvPr/>
        </p:nvSpPr>
        <p:spPr>
          <a:xfrm>
            <a:off x="4617720" y="2834640"/>
            <a:ext cx="501480" cy="501480"/>
          </a:xfrm>
          <a:prstGeom prst="ellipse">
            <a:avLst/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14"/>
          <p:cNvSpPr/>
          <p:nvPr/>
        </p:nvSpPr>
        <p:spPr>
          <a:xfrm>
            <a:off x="4617720" y="283464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15"/>
          <p:cNvSpPr/>
          <p:nvPr/>
        </p:nvSpPr>
        <p:spPr>
          <a:xfrm>
            <a:off x="4599360" y="3474720"/>
            <a:ext cx="30160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50" strike="noStrike" u="none">
                <a:solidFill>
                  <a:srgbClr val="1e2761"/>
                </a:solidFill>
                <a:effectLst/>
                <a:uFillTx/>
                <a:latin typeface="Cambria"/>
                <a:ea typeface="Cambria"/>
              </a:rPr>
              <a:t>Product Hierarchy Aggregation</a:t>
            </a:r>
            <a:endParaRPr b="0" lang="en-US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6"/>
          <p:cNvSpPr/>
          <p:nvPr/>
        </p:nvSpPr>
        <p:spPr>
          <a:xfrm>
            <a:off x="4599360" y="4023360"/>
            <a:ext cx="301608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1b2440"/>
                </a:solidFill>
                <a:effectLst/>
                <a:uFillTx/>
                <a:latin typeface="Calibri"/>
                <a:ea typeface="Calibri"/>
              </a:rPr>
              <a:t>SKU → class → family cancels item-level spikes</a:t>
            </a:r>
            <a:endParaRPr b="0" lang="en-US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17"/>
          <p:cNvSpPr/>
          <p:nvPr/>
        </p:nvSpPr>
        <p:spPr>
          <a:xfrm>
            <a:off x="8138160" y="2560320"/>
            <a:ext cx="3519000" cy="2330280"/>
          </a:xfrm>
          <a:prstGeom prst="roundRect">
            <a:avLst>
              <a:gd name="adj" fmla="val 3922"/>
            </a:avLst>
          </a:prstGeom>
          <a:solidFill>
            <a:srgbClr val="eef3fc"/>
          </a:solidFill>
          <a:ln w="12700">
            <a:solidFill>
              <a:srgbClr val="cadcf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18"/>
          <p:cNvSpPr/>
          <p:nvPr/>
        </p:nvSpPr>
        <p:spPr>
          <a:xfrm>
            <a:off x="8412480" y="2834640"/>
            <a:ext cx="501480" cy="501480"/>
          </a:xfrm>
          <a:prstGeom prst="ellipse">
            <a:avLst/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19"/>
          <p:cNvSpPr/>
          <p:nvPr/>
        </p:nvSpPr>
        <p:spPr>
          <a:xfrm>
            <a:off x="8412480" y="283464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20"/>
          <p:cNvSpPr/>
          <p:nvPr/>
        </p:nvSpPr>
        <p:spPr>
          <a:xfrm>
            <a:off x="8394120" y="3474720"/>
            <a:ext cx="30160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50" strike="noStrike" u="none">
                <a:solidFill>
                  <a:srgbClr val="1e2761"/>
                </a:solidFill>
                <a:effectLst/>
                <a:uFillTx/>
                <a:latin typeface="Cambria"/>
                <a:ea typeface="Cambria"/>
              </a:rPr>
              <a:t>Time Aggregation</a:t>
            </a:r>
            <a:endParaRPr b="0" lang="en-US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21"/>
          <p:cNvSpPr/>
          <p:nvPr/>
        </p:nvSpPr>
        <p:spPr>
          <a:xfrm>
            <a:off x="8394120" y="4023360"/>
            <a:ext cx="301608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1b2440"/>
                </a:solidFill>
                <a:effectLst/>
                <a:uFillTx/>
                <a:latin typeface="Calibri"/>
                <a:ea typeface="Calibri"/>
              </a:rPr>
              <a:t>Daily → weekly → monthly averages out short-term variance</a:t>
            </a:r>
            <a:endParaRPr b="0" lang="en-US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22"/>
          <p:cNvSpPr/>
          <p:nvPr/>
        </p:nvSpPr>
        <p:spPr>
          <a:xfrm>
            <a:off x="548640" y="5120640"/>
            <a:ext cx="11090160" cy="455760"/>
          </a:xfrm>
          <a:prstGeom prst="rect">
            <a:avLst/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23"/>
          <p:cNvSpPr/>
          <p:nvPr/>
        </p:nvSpPr>
        <p:spPr>
          <a:xfrm>
            <a:off x="731520" y="5120640"/>
            <a:ext cx="10724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50" strike="noStrike" u="non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Coarser aggregation → higher accuracy, lower operational granularity      |      Finer grain → more actionable, harder to forecast</a:t>
            </a:r>
            <a:endParaRPr b="0" lang="en-US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Shape 0">
            <a:hlinkClick r:id="rId1" action="ppaction://hlinksldjump"/>
          </p:cNvPr>
          <p:cNvSpPr/>
          <p:nvPr/>
        </p:nvSpPr>
        <p:spPr>
          <a:xfrm>
            <a:off x="10314360" y="201240"/>
            <a:ext cx="1598760" cy="36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"/>
          <p:cNvSpPr/>
          <p:nvPr/>
        </p:nvSpPr>
        <p:spPr>
          <a:xfrm>
            <a:off x="10314360" y="201240"/>
            <a:ext cx="1598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sng">
                <a:solidFill>
                  <a:srgbClr val="f2f2f2"/>
                </a:solidFill>
                <a:effectLst/>
                <a:uFillTx/>
                <a:latin typeface="Calibri"/>
                <a:ea typeface="Calibri"/>
                <a:hlinkClick r:id="rId2" action="ppaction://hlinksldjump"/>
              </a:rPr>
              <a:t>← Overview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2"/>
          <p:cNvSpPr/>
          <p:nvPr/>
        </p:nvSpPr>
        <p:spPr>
          <a:xfrm>
            <a:off x="11365920" y="649224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5a6b87"/>
                </a:solidFill>
                <a:effectLst/>
                <a:uFillTx/>
                <a:latin typeface="Calibri"/>
                <a:ea typeface="Calibri"/>
              </a:rPr>
              <a:t>4 / 9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3"/>
          <p:cNvSpPr/>
          <p:nvPr/>
        </p:nvSpPr>
        <p:spPr>
          <a:xfrm>
            <a:off x="548640" y="32004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201" strike="noStrike" u="none">
                <a:solidFill>
                  <a:srgbClr val="00b4a6"/>
                </a:solidFill>
                <a:effectLst/>
                <a:uFillTx/>
                <a:latin typeface="Calibri"/>
                <a:ea typeface="Calibri"/>
              </a:rPr>
              <a:t>SECTION 3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4"/>
          <p:cNvSpPr/>
          <p:nvPr/>
        </p:nvSpPr>
        <p:spPr>
          <a:xfrm>
            <a:off x="548640" y="567000"/>
            <a:ext cx="877680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1e2761"/>
                </a:solidFill>
                <a:effectLst/>
                <a:uFillTx/>
                <a:latin typeface="Cambria"/>
                <a:ea typeface="Cambria"/>
              </a:rPr>
              <a:t>Product Hierarchy Standards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5"/>
          <p:cNvSpPr/>
          <p:nvPr/>
        </p:nvSpPr>
        <p:spPr>
          <a:xfrm>
            <a:off x="548640" y="1417320"/>
            <a:ext cx="110628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1b2440"/>
                </a:solidFill>
                <a:effectLst/>
                <a:uFillTx/>
                <a:latin typeface="Calibri"/>
                <a:ea typeface="Calibri"/>
              </a:rPr>
              <a:t>Item taxonomy follows an industry-standard classification so that products roll up consistently.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6"/>
          <p:cNvSpPr/>
          <p:nvPr/>
        </p:nvSpPr>
        <p:spPr>
          <a:xfrm>
            <a:off x="548640" y="21031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150" strike="noStrike" u="none">
                <a:solidFill>
                  <a:srgbClr val="00b4a6"/>
                </a:solidFill>
                <a:effectLst/>
                <a:uFillTx/>
                <a:latin typeface="Calibri"/>
                <a:ea typeface="Calibri"/>
              </a:rPr>
              <a:t>GPC (GLOBAL PRODUCT CLASSIFICATION)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7"/>
          <p:cNvSpPr/>
          <p:nvPr/>
        </p:nvSpPr>
        <p:spPr>
          <a:xfrm>
            <a:off x="548640" y="2423160"/>
            <a:ext cx="2064960" cy="958680"/>
          </a:xfrm>
          <a:prstGeom prst="roundRect">
            <a:avLst>
              <a:gd name="adj" fmla="val 7619"/>
            </a:avLst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8"/>
          <p:cNvSpPr/>
          <p:nvPr/>
        </p:nvSpPr>
        <p:spPr>
          <a:xfrm>
            <a:off x="548640" y="2423160"/>
            <a:ext cx="2064960" cy="95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Segment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(77 00 00 00 - Auto/Vehicles)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9"/>
          <p:cNvSpPr/>
          <p:nvPr/>
        </p:nvSpPr>
        <p:spPr>
          <a:xfrm>
            <a:off x="2597040" y="2423160"/>
            <a:ext cx="199800" cy="95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5a6b87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10"/>
          <p:cNvSpPr/>
          <p:nvPr/>
        </p:nvSpPr>
        <p:spPr>
          <a:xfrm>
            <a:off x="2779920" y="2423160"/>
            <a:ext cx="2064960" cy="958680"/>
          </a:xfrm>
          <a:prstGeom prst="roundRect">
            <a:avLst>
              <a:gd name="adj" fmla="val 7619"/>
            </a:avLst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11"/>
          <p:cNvSpPr/>
          <p:nvPr/>
        </p:nvSpPr>
        <p:spPr>
          <a:xfrm>
            <a:off x="2779920" y="2423160"/>
            <a:ext cx="2064960" cy="95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Family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(77 01 00 00 – Auto Accessories)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12"/>
          <p:cNvSpPr/>
          <p:nvPr/>
        </p:nvSpPr>
        <p:spPr>
          <a:xfrm>
            <a:off x="4827960" y="2423160"/>
            <a:ext cx="199800" cy="95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5a6b87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Shape 13"/>
          <p:cNvSpPr/>
          <p:nvPr/>
        </p:nvSpPr>
        <p:spPr>
          <a:xfrm>
            <a:off x="5010840" y="2423160"/>
            <a:ext cx="2064960" cy="958680"/>
          </a:xfrm>
          <a:prstGeom prst="roundRect">
            <a:avLst>
              <a:gd name="adj" fmla="val 7619"/>
            </a:avLst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14"/>
          <p:cNvSpPr/>
          <p:nvPr/>
        </p:nvSpPr>
        <p:spPr>
          <a:xfrm>
            <a:off x="5010840" y="2423160"/>
            <a:ext cx="2064960" cy="95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Class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(77 01 53 00 – Auto Brakes)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15"/>
          <p:cNvSpPr/>
          <p:nvPr/>
        </p:nvSpPr>
        <p:spPr>
          <a:xfrm>
            <a:off x="7059240" y="2423160"/>
            <a:ext cx="199800" cy="95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5a6b87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16"/>
          <p:cNvSpPr/>
          <p:nvPr/>
        </p:nvSpPr>
        <p:spPr>
          <a:xfrm>
            <a:off x="7242120" y="2423160"/>
            <a:ext cx="2064960" cy="958680"/>
          </a:xfrm>
          <a:prstGeom prst="roundRect">
            <a:avLst>
              <a:gd name="adj" fmla="val 7619"/>
            </a:avLst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17"/>
          <p:cNvSpPr/>
          <p:nvPr/>
        </p:nvSpPr>
        <p:spPr>
          <a:xfrm>
            <a:off x="7242120" y="2423160"/>
            <a:ext cx="2064960" cy="95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Brick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(1000 6384 – Break pads)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18"/>
          <p:cNvSpPr/>
          <p:nvPr/>
        </p:nvSpPr>
        <p:spPr>
          <a:xfrm>
            <a:off x="9290160" y="2423160"/>
            <a:ext cx="199800" cy="95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5a6b87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Shape 19"/>
          <p:cNvSpPr/>
          <p:nvPr/>
        </p:nvSpPr>
        <p:spPr>
          <a:xfrm>
            <a:off x="9473040" y="2423160"/>
            <a:ext cx="2064960" cy="958680"/>
          </a:xfrm>
          <a:prstGeom prst="roundRect">
            <a:avLst>
              <a:gd name="adj" fmla="val 7619"/>
            </a:avLst>
          </a:prstGeom>
          <a:solidFill>
            <a:srgbClr val="00b4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20"/>
          <p:cNvSpPr/>
          <p:nvPr/>
        </p:nvSpPr>
        <p:spPr>
          <a:xfrm>
            <a:off x="9473040" y="2423160"/>
            <a:ext cx="2064960" cy="95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GTIN / Item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21"/>
          <p:cNvSpPr/>
          <p:nvPr/>
        </p:nvSpPr>
        <p:spPr>
          <a:xfrm>
            <a:off x="548640" y="3438000"/>
            <a:ext cx="109897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50" strike="noStrike" u="none">
                <a:solidFill>
                  <a:srgbClr val="5a6b87"/>
                </a:solidFill>
                <a:effectLst/>
                <a:uFillTx/>
                <a:latin typeface="Calibri"/>
                <a:ea typeface="Calibri"/>
              </a:rPr>
              <a:t>Broadest category grouping                                                                                                        </a:t>
            </a:r>
            <a:r>
              <a:rPr b="0" i="1" lang="en-US" sz="950" strike="noStrike" u="none">
                <a:solidFill>
                  <a:srgbClr val="5a6b87"/>
                </a:solidFill>
                <a:effectLst/>
                <a:uFillTx/>
                <a:latin typeface="Calibri"/>
                <a:ea typeface="Calibri"/>
              </a:rPr>
              <a:t>	</a:t>
            </a:r>
            <a:r>
              <a:rPr b="0" i="1" lang="en-US" sz="950" strike="noStrike" u="none">
                <a:solidFill>
                  <a:srgbClr val="5a6b87"/>
                </a:solidFill>
                <a:effectLst/>
                <a:uFillTx/>
                <a:latin typeface="Calibri"/>
                <a:ea typeface="Calibri"/>
              </a:rPr>
              <a:t>	</a:t>
            </a:r>
            <a:r>
              <a:rPr b="0" i="1" lang="en-US" sz="950" strike="noStrike" u="none">
                <a:solidFill>
                  <a:srgbClr val="5a6b87"/>
                </a:solidFill>
                <a:effectLst/>
                <a:uFillTx/>
                <a:latin typeface="Calibri"/>
                <a:ea typeface="Calibri"/>
              </a:rPr>
              <a:t>	</a:t>
            </a:r>
            <a:r>
              <a:rPr b="0" i="1" lang="en-US" sz="950" strike="noStrike" u="none">
                <a:solidFill>
                  <a:srgbClr val="5a6b87"/>
                </a:solidFill>
                <a:effectLst/>
                <a:uFillTx/>
                <a:latin typeface="Calibri"/>
                <a:ea typeface="Calibri"/>
              </a:rPr>
              <a:t>	</a:t>
            </a:r>
            <a:r>
              <a:rPr b="0" i="1" lang="en-US" sz="950" strike="noStrike" u="none">
                <a:solidFill>
                  <a:srgbClr val="5a6b87"/>
                </a:solidFill>
                <a:effectLst/>
                <a:uFillTx/>
                <a:latin typeface="Calibri"/>
                <a:ea typeface="Calibri"/>
              </a:rPr>
              <a:t>	</a:t>
            </a:r>
            <a:r>
              <a:rPr b="0" i="1" lang="en-US" sz="950" strike="noStrike" u="none">
                <a:solidFill>
                  <a:srgbClr val="5a6b87"/>
                </a:solidFill>
                <a:effectLst/>
                <a:uFillTx/>
                <a:latin typeface="Calibri"/>
                <a:ea typeface="Calibri"/>
              </a:rPr>
              <a:t>	</a:t>
            </a:r>
            <a:r>
              <a:rPr b="0" i="1" lang="en-US" sz="950" strike="noStrike" u="none">
                <a:solidFill>
                  <a:srgbClr val="5a6b87"/>
                </a:solidFill>
                <a:effectLst/>
                <a:uFillTx/>
                <a:latin typeface="Calibri"/>
                <a:ea typeface="Calibri"/>
              </a:rPr>
              <a:t>Sellable unit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22"/>
          <p:cNvSpPr/>
          <p:nvPr/>
        </p:nvSpPr>
        <p:spPr>
          <a:xfrm>
            <a:off x="548640" y="3977640"/>
            <a:ext cx="5484960" cy="1415880"/>
          </a:xfrm>
          <a:prstGeom prst="roundRect">
            <a:avLst>
              <a:gd name="adj" fmla="val 5806"/>
            </a:avLst>
          </a:prstGeom>
          <a:solidFill>
            <a:srgbClr val="eef3fc"/>
          </a:solidFill>
          <a:ln w="12700">
            <a:solidFill>
              <a:srgbClr val="cadcf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23"/>
          <p:cNvSpPr/>
          <p:nvPr/>
        </p:nvSpPr>
        <p:spPr>
          <a:xfrm>
            <a:off x="777240" y="4114800"/>
            <a:ext cx="5027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9" strike="noStrike" u="non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ALTERNATIVE: AMERICAN STANDARDS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24"/>
          <p:cNvSpPr/>
          <p:nvPr/>
        </p:nvSpPr>
        <p:spPr>
          <a:xfrm>
            <a:off x="777240" y="4389120"/>
            <a:ext cx="502776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1b2440"/>
                </a:solidFill>
                <a:effectLst/>
                <a:uFillTx/>
                <a:latin typeface="Calibri"/>
                <a:ea typeface="Calibri"/>
              </a:rPr>
              <a:t>Where clients standardize on UNSPSC / Licensed PCdb-style classification instead of GPC, the same rollup logic applies — only the code set and level names change.</a:t>
            </a:r>
            <a:endParaRPr b="0" lang="en-US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Shape 25"/>
          <p:cNvSpPr/>
          <p:nvPr/>
        </p:nvSpPr>
        <p:spPr>
          <a:xfrm>
            <a:off x="6263640" y="3977640"/>
            <a:ext cx="5393520" cy="1415880"/>
          </a:xfrm>
          <a:prstGeom prst="roundRect">
            <a:avLst>
              <a:gd name="adj" fmla="val 5806"/>
            </a:avLst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26"/>
          <p:cNvSpPr/>
          <p:nvPr/>
        </p:nvSpPr>
        <p:spPr>
          <a:xfrm>
            <a:off x="6492240" y="4114800"/>
            <a:ext cx="49363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9" strike="noStrike" u="none">
                <a:solidFill>
                  <a:srgbClr val="00b4a6"/>
                </a:solidFill>
                <a:effectLst/>
                <a:uFillTx/>
                <a:latin typeface="Calibri"/>
                <a:ea typeface="Calibri"/>
              </a:rPr>
              <a:t>WHY IT MATTERS FOR THE PLATFORM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27"/>
          <p:cNvSpPr/>
          <p:nvPr/>
        </p:nvSpPr>
        <p:spPr>
          <a:xfrm>
            <a:off x="6492240" y="4389120"/>
            <a:ext cx="493632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Every TaxonomyNode carries a hierarchical path, so forecasts, ABC classes and overrides can be rolled up or drilled down without recomputation — and colliding path prefixes across clients are guarded against.</a:t>
            </a:r>
            <a:endParaRPr b="0" lang="en-US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Shape 0">
            <a:hlinkClick r:id="rId1" action="ppaction://hlinksldjump"/>
          </p:cNvPr>
          <p:cNvSpPr/>
          <p:nvPr/>
        </p:nvSpPr>
        <p:spPr>
          <a:xfrm>
            <a:off x="10314360" y="201240"/>
            <a:ext cx="1598760" cy="36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1"/>
          <p:cNvSpPr/>
          <p:nvPr/>
        </p:nvSpPr>
        <p:spPr>
          <a:xfrm>
            <a:off x="10314360" y="201240"/>
            <a:ext cx="1598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sng">
                <a:solidFill>
                  <a:srgbClr val="f2f2f2"/>
                </a:solidFill>
                <a:effectLst/>
                <a:uFillTx/>
                <a:latin typeface="Calibri"/>
                <a:ea typeface="Calibri"/>
                <a:hlinkClick r:id="rId2" action="ppaction://hlinksldjump"/>
              </a:rPr>
              <a:t>← Overview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2"/>
          <p:cNvSpPr/>
          <p:nvPr/>
        </p:nvSpPr>
        <p:spPr>
          <a:xfrm>
            <a:off x="11365920" y="649224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5a6b87"/>
                </a:solidFill>
                <a:effectLst/>
                <a:uFillTx/>
                <a:latin typeface="Calibri"/>
                <a:ea typeface="Calibri"/>
              </a:rPr>
              <a:t>5 / 9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3"/>
          <p:cNvSpPr/>
          <p:nvPr/>
        </p:nvSpPr>
        <p:spPr>
          <a:xfrm>
            <a:off x="548640" y="32004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201" strike="noStrike" u="none">
                <a:solidFill>
                  <a:srgbClr val="00b4a6"/>
                </a:solidFill>
                <a:effectLst/>
                <a:uFillTx/>
                <a:latin typeface="Calibri"/>
                <a:ea typeface="Calibri"/>
              </a:rPr>
              <a:t>SECTION 4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4"/>
          <p:cNvSpPr/>
          <p:nvPr/>
        </p:nvSpPr>
        <p:spPr>
          <a:xfrm>
            <a:off x="548640" y="567000"/>
            <a:ext cx="877680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1e2761"/>
                </a:solidFill>
                <a:effectLst/>
                <a:uFillTx/>
                <a:latin typeface="Cambria"/>
                <a:ea typeface="Cambria"/>
              </a:rPr>
              <a:t>Sales Hierarchy Aggregation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5"/>
          <p:cNvSpPr/>
          <p:nvPr/>
        </p:nvSpPr>
        <p:spPr>
          <a:xfrm>
            <a:off x="548640" y="1417320"/>
            <a:ext cx="110628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1b2440"/>
                </a:solidFill>
                <a:effectLst/>
                <a:uFillTx/>
                <a:latin typeface="Calibri"/>
                <a:ea typeface="Calibri"/>
              </a:rPr>
              <a:t>The sales organization forms its own rollup hierarchy — independent of product or location — with the individual sales rep as its leaf. Forecasts and consensus input can be reviewed at any management level.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6"/>
          <p:cNvSpPr/>
          <p:nvPr/>
        </p:nvSpPr>
        <p:spPr>
          <a:xfrm>
            <a:off x="548640" y="2148840"/>
            <a:ext cx="2604600" cy="958680"/>
          </a:xfrm>
          <a:prstGeom prst="roundRect">
            <a:avLst>
              <a:gd name="adj" fmla="val 7619"/>
            </a:avLst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7"/>
          <p:cNvSpPr/>
          <p:nvPr/>
        </p:nvSpPr>
        <p:spPr>
          <a:xfrm>
            <a:off x="548640" y="2148840"/>
            <a:ext cx="2604600" cy="95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Sales Manager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8"/>
          <p:cNvSpPr/>
          <p:nvPr/>
        </p:nvSpPr>
        <p:spPr>
          <a:xfrm>
            <a:off x="3136320" y="2148840"/>
            <a:ext cx="199800" cy="95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5a6b87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9"/>
          <p:cNvSpPr/>
          <p:nvPr/>
        </p:nvSpPr>
        <p:spPr>
          <a:xfrm>
            <a:off x="3319200" y="2148840"/>
            <a:ext cx="2604600" cy="958680"/>
          </a:xfrm>
          <a:prstGeom prst="roundRect">
            <a:avLst>
              <a:gd name="adj" fmla="val 7619"/>
            </a:avLst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10"/>
          <p:cNvSpPr/>
          <p:nvPr/>
        </p:nvSpPr>
        <p:spPr>
          <a:xfrm>
            <a:off x="3319200" y="2148840"/>
            <a:ext cx="2604600" cy="95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Regional Manager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11"/>
          <p:cNvSpPr/>
          <p:nvPr/>
        </p:nvSpPr>
        <p:spPr>
          <a:xfrm>
            <a:off x="5906880" y="2148840"/>
            <a:ext cx="199800" cy="95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5a6b87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12"/>
          <p:cNvSpPr/>
          <p:nvPr/>
        </p:nvSpPr>
        <p:spPr>
          <a:xfrm>
            <a:off x="6089760" y="2148840"/>
            <a:ext cx="2604600" cy="958680"/>
          </a:xfrm>
          <a:prstGeom prst="roundRect">
            <a:avLst>
              <a:gd name="adj" fmla="val 7619"/>
            </a:avLst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3"/>
          <p:cNvSpPr/>
          <p:nvPr/>
        </p:nvSpPr>
        <p:spPr>
          <a:xfrm>
            <a:off x="6089760" y="2148840"/>
            <a:ext cx="2604600" cy="95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Branch Manager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14"/>
          <p:cNvSpPr/>
          <p:nvPr/>
        </p:nvSpPr>
        <p:spPr>
          <a:xfrm>
            <a:off x="8677800" y="2148840"/>
            <a:ext cx="199800" cy="95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5a6b87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15"/>
          <p:cNvSpPr/>
          <p:nvPr/>
        </p:nvSpPr>
        <p:spPr>
          <a:xfrm>
            <a:off x="8860680" y="2148840"/>
            <a:ext cx="2604600" cy="958680"/>
          </a:xfrm>
          <a:prstGeom prst="roundRect">
            <a:avLst>
              <a:gd name="adj" fmla="val 7619"/>
            </a:avLst>
          </a:prstGeom>
          <a:solidFill>
            <a:srgbClr val="00b4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16"/>
          <p:cNvSpPr/>
          <p:nvPr/>
        </p:nvSpPr>
        <p:spPr>
          <a:xfrm>
            <a:off x="8860680" y="2148840"/>
            <a:ext cx="2604600" cy="95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Sales Rep / Leaf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17"/>
          <p:cNvSpPr/>
          <p:nvPr/>
        </p:nvSpPr>
        <p:spPr>
          <a:xfrm>
            <a:off x="548640" y="3163680"/>
            <a:ext cx="10916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50" strike="noStrike" u="none">
                <a:solidFill>
                  <a:srgbClr val="5a6b87"/>
                </a:solidFill>
                <a:effectLst/>
                <a:uFillTx/>
                <a:latin typeface="Calibri"/>
                <a:ea typeface="Calibri"/>
              </a:rPr>
              <a:t>Widest commercial rollup                                                                                                                                    Leaf / atomic rep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Shape 18"/>
          <p:cNvSpPr/>
          <p:nvPr/>
        </p:nvSpPr>
        <p:spPr>
          <a:xfrm>
            <a:off x="548640" y="3977640"/>
            <a:ext cx="3519000" cy="2330280"/>
          </a:xfrm>
          <a:prstGeom prst="roundRect">
            <a:avLst>
              <a:gd name="adj" fmla="val 3922"/>
            </a:avLst>
          </a:prstGeom>
          <a:solidFill>
            <a:srgbClr val="eef3fc"/>
          </a:solidFill>
          <a:ln w="12700">
            <a:solidFill>
              <a:srgbClr val="cadcf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19"/>
          <p:cNvSpPr/>
          <p:nvPr/>
        </p:nvSpPr>
        <p:spPr>
          <a:xfrm>
            <a:off x="777240" y="4178880"/>
            <a:ext cx="30618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1e2761"/>
                </a:solidFill>
                <a:effectLst/>
                <a:uFillTx/>
                <a:latin typeface="Cambria"/>
                <a:ea typeface="Cambria"/>
              </a:rPr>
              <a:t>SalesNode Paths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20"/>
          <p:cNvSpPr/>
          <p:nvPr/>
        </p:nvSpPr>
        <p:spPr>
          <a:xfrm>
            <a:off x="777240" y="4690800"/>
            <a:ext cx="3061800" cy="14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1b2440"/>
                </a:solidFill>
                <a:effectLst/>
                <a:uFillTx/>
                <a:latin typeface="Calibri"/>
                <a:ea typeface="Calibri"/>
              </a:rPr>
              <a:t>Each SalesNode stores a hierarchical path (e.g. manager/region/branch/rep) enabling instant roll-up or drill-down of consensus input without re-querying the tree.</a:t>
            </a:r>
            <a:endParaRPr b="0" lang="en-US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21"/>
          <p:cNvSpPr/>
          <p:nvPr/>
        </p:nvSpPr>
        <p:spPr>
          <a:xfrm>
            <a:off x="4343400" y="3977640"/>
            <a:ext cx="3519000" cy="2330280"/>
          </a:xfrm>
          <a:prstGeom prst="roundRect">
            <a:avLst>
              <a:gd name="adj" fmla="val 3922"/>
            </a:avLst>
          </a:prstGeom>
          <a:solidFill>
            <a:srgbClr val="eef3fc"/>
          </a:solidFill>
          <a:ln w="12700">
            <a:solidFill>
              <a:srgbClr val="cadcf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22"/>
          <p:cNvSpPr/>
          <p:nvPr/>
        </p:nvSpPr>
        <p:spPr>
          <a:xfrm>
            <a:off x="4572000" y="4178880"/>
            <a:ext cx="30618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1e2761"/>
                </a:solidFill>
                <a:effectLst/>
                <a:uFillTx/>
                <a:latin typeface="Cambria"/>
                <a:ea typeface="Cambria"/>
              </a:rPr>
              <a:t>Fine grained 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23"/>
          <p:cNvSpPr/>
          <p:nvPr/>
        </p:nvSpPr>
        <p:spPr>
          <a:xfrm>
            <a:off x="4572000" y="4690800"/>
            <a:ext cx="3061800" cy="14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1b2440"/>
                </a:solidFill>
                <a:effectLst/>
                <a:uFillTx/>
                <a:latin typeface="Calibri"/>
                <a:ea typeface="Calibri"/>
              </a:rPr>
              <a:t>Sales Hierarchy can be further fine grained if required. For eg if the same delivery location caters to Retail and Institutional Customers, we can have Distribution Channel as a master to further fine grain..</a:t>
            </a:r>
            <a:endParaRPr b="0" lang="en-US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Shape 24"/>
          <p:cNvSpPr/>
          <p:nvPr/>
        </p:nvSpPr>
        <p:spPr>
          <a:xfrm>
            <a:off x="8138160" y="3977640"/>
            <a:ext cx="3519000" cy="2330280"/>
          </a:xfrm>
          <a:prstGeom prst="roundRect">
            <a:avLst>
              <a:gd name="adj" fmla="val 3922"/>
            </a:avLst>
          </a:prstGeom>
          <a:solidFill>
            <a:srgbClr val="eef3fc"/>
          </a:solidFill>
          <a:ln w="12700">
            <a:solidFill>
              <a:srgbClr val="cadcf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25"/>
          <p:cNvSpPr/>
          <p:nvPr/>
        </p:nvSpPr>
        <p:spPr>
          <a:xfrm>
            <a:off x="8366760" y="4178880"/>
            <a:ext cx="30618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1e2761"/>
                </a:solidFill>
                <a:effectLst/>
                <a:uFillTx/>
                <a:latin typeface="Cambria"/>
                <a:ea typeface="Cambria"/>
              </a:rPr>
              <a:t>Balancing Accuracy vs. Action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26"/>
          <p:cNvSpPr/>
          <p:nvPr/>
        </p:nvSpPr>
        <p:spPr>
          <a:xfrm>
            <a:off x="8366760" y="4690800"/>
            <a:ext cx="3061800" cy="14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1b2440"/>
                </a:solidFill>
                <a:effectLst/>
                <a:uFillTx/>
                <a:latin typeface="Calibri"/>
                <a:ea typeface="Calibri"/>
              </a:rPr>
              <a:t>Rolling up to a regional manager smooths noise for stable consensus review; the rep level is where account-level input actually originates.</a:t>
            </a:r>
            <a:endParaRPr b="0" lang="en-US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Shape 0">
            <a:hlinkClick r:id="rId1" action="ppaction://hlinksldjump"/>
          </p:cNvPr>
          <p:cNvSpPr/>
          <p:nvPr/>
        </p:nvSpPr>
        <p:spPr>
          <a:xfrm>
            <a:off x="10314360" y="201240"/>
            <a:ext cx="1598760" cy="36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1"/>
          <p:cNvSpPr/>
          <p:nvPr/>
        </p:nvSpPr>
        <p:spPr>
          <a:xfrm>
            <a:off x="10314360" y="201240"/>
            <a:ext cx="1598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sng">
                <a:solidFill>
                  <a:srgbClr val="f2f2f2"/>
                </a:solidFill>
                <a:effectLst/>
                <a:uFillTx/>
                <a:latin typeface="Calibri"/>
                <a:ea typeface="Calibri"/>
                <a:hlinkClick r:id="rId2" action="ppaction://hlinksldjump"/>
              </a:rPr>
              <a:t>← Overview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2"/>
          <p:cNvSpPr/>
          <p:nvPr/>
        </p:nvSpPr>
        <p:spPr>
          <a:xfrm>
            <a:off x="11365920" y="649224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5a6b87"/>
                </a:solidFill>
                <a:effectLst/>
                <a:uFillTx/>
                <a:latin typeface="Calibri"/>
                <a:ea typeface="Calibri"/>
              </a:rPr>
              <a:t>6 / 9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3"/>
          <p:cNvSpPr/>
          <p:nvPr/>
        </p:nvSpPr>
        <p:spPr>
          <a:xfrm>
            <a:off x="548640" y="32004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201" strike="noStrike" u="none">
                <a:solidFill>
                  <a:srgbClr val="00b4a6"/>
                </a:solidFill>
                <a:effectLst/>
                <a:uFillTx/>
                <a:latin typeface="Calibri"/>
                <a:ea typeface="Calibri"/>
              </a:rPr>
              <a:t>SECTION 5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4"/>
          <p:cNvSpPr/>
          <p:nvPr/>
        </p:nvSpPr>
        <p:spPr>
          <a:xfrm>
            <a:off x="548640" y="567000"/>
            <a:ext cx="877680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1e2761"/>
                </a:solidFill>
                <a:effectLst/>
                <a:uFillTx/>
                <a:latin typeface="Cambria"/>
                <a:ea typeface="Cambria"/>
              </a:rPr>
              <a:t>Forecastability Measures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5"/>
          <p:cNvSpPr/>
          <p:nvPr/>
        </p:nvSpPr>
        <p:spPr>
          <a:xfrm>
            <a:off x="548640" y="1371600"/>
            <a:ext cx="110628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1b2440"/>
                </a:solidFill>
                <a:effectLst/>
                <a:uFillTx/>
                <a:latin typeface="Calibri"/>
                <a:ea typeface="Calibri"/>
              </a:rPr>
              <a:t>Every series is classified along two dimensions of demand behavior — how often it sells (ADI), and how much quantities vary when it does (CV²).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Shape 6"/>
          <p:cNvSpPr/>
          <p:nvPr/>
        </p:nvSpPr>
        <p:spPr>
          <a:xfrm>
            <a:off x="2286000" y="1965960"/>
            <a:ext cx="2421720" cy="1873080"/>
          </a:xfrm>
          <a:prstGeom prst="rect">
            <a:avLst/>
          </a:prstGeom>
          <a:solidFill>
            <a:srgbClr val="3e6fd1"/>
          </a:solidFill>
          <a:ln w="254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7"/>
          <p:cNvSpPr/>
          <p:nvPr/>
        </p:nvSpPr>
        <p:spPr>
          <a:xfrm>
            <a:off x="2423160" y="2103120"/>
            <a:ext cx="21474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99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ERRATIC</a:t>
            </a:r>
            <a:endParaRPr b="0" lang="en-US" sz="1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8"/>
          <p:cNvSpPr/>
          <p:nvPr/>
        </p:nvSpPr>
        <p:spPr>
          <a:xfrm>
            <a:off x="2423160" y="2468880"/>
            <a:ext cx="2147400" cy="12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Regular demand, but quantities swing widely between periods.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Shape 9"/>
          <p:cNvSpPr/>
          <p:nvPr/>
        </p:nvSpPr>
        <p:spPr>
          <a:xfrm>
            <a:off x="4709160" y="1965960"/>
            <a:ext cx="2421720" cy="1873080"/>
          </a:xfrm>
          <a:prstGeom prst="rect">
            <a:avLst/>
          </a:prstGeom>
          <a:solidFill>
            <a:srgbClr val="c0392b"/>
          </a:solidFill>
          <a:ln w="254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10"/>
          <p:cNvSpPr/>
          <p:nvPr/>
        </p:nvSpPr>
        <p:spPr>
          <a:xfrm>
            <a:off x="4846320" y="2103120"/>
            <a:ext cx="21474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99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LUMPY</a:t>
            </a:r>
            <a:endParaRPr b="0" lang="en-US" sz="1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11"/>
          <p:cNvSpPr/>
          <p:nvPr/>
        </p:nvSpPr>
        <p:spPr>
          <a:xfrm>
            <a:off x="4846320" y="2468880"/>
            <a:ext cx="2147400" cy="12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Sparse and highly variable — the hardest class to forecast.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12"/>
          <p:cNvSpPr/>
          <p:nvPr/>
        </p:nvSpPr>
        <p:spPr>
          <a:xfrm>
            <a:off x="2286000" y="3840480"/>
            <a:ext cx="2421720" cy="1873080"/>
          </a:xfrm>
          <a:prstGeom prst="rect">
            <a:avLst/>
          </a:prstGeom>
          <a:solidFill>
            <a:srgbClr val="00b4a6"/>
          </a:solidFill>
          <a:ln w="254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13"/>
          <p:cNvSpPr/>
          <p:nvPr/>
        </p:nvSpPr>
        <p:spPr>
          <a:xfrm>
            <a:off x="2423160" y="3977640"/>
            <a:ext cx="21474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99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SMOOTH</a:t>
            </a:r>
            <a:endParaRPr b="0" lang="en-US" sz="1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14"/>
          <p:cNvSpPr/>
          <p:nvPr/>
        </p:nvSpPr>
        <p:spPr>
          <a:xfrm>
            <a:off x="2423160" y="4343400"/>
            <a:ext cx="2147400" cy="12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Regular demand, consistent quantities — the easiest class to forecast.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Shape 15"/>
          <p:cNvSpPr/>
          <p:nvPr/>
        </p:nvSpPr>
        <p:spPr>
          <a:xfrm>
            <a:off x="4709160" y="3840480"/>
            <a:ext cx="2421720" cy="1873080"/>
          </a:xfrm>
          <a:prstGeom prst="rect">
            <a:avLst/>
          </a:prstGeom>
          <a:solidFill>
            <a:srgbClr val="6b4fa0"/>
          </a:solidFill>
          <a:ln w="254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16"/>
          <p:cNvSpPr/>
          <p:nvPr/>
        </p:nvSpPr>
        <p:spPr>
          <a:xfrm>
            <a:off x="4846320" y="3977640"/>
            <a:ext cx="21474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99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INTERMITTENT</a:t>
            </a:r>
            <a:endParaRPr b="0" lang="en-US" sz="1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17"/>
          <p:cNvSpPr/>
          <p:nvPr/>
        </p:nvSpPr>
        <p:spPr>
          <a:xfrm>
            <a:off x="4846320" y="4343400"/>
            <a:ext cx="2147400" cy="12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Sparse, irregular demand with fairly consistent order sizes.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18"/>
          <p:cNvSpPr/>
          <p:nvPr/>
        </p:nvSpPr>
        <p:spPr>
          <a:xfrm>
            <a:off x="2103120" y="5742360"/>
            <a:ext cx="3643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5a6b87"/>
                </a:solidFill>
                <a:effectLst/>
                <a:uFillTx/>
                <a:latin typeface="Calibri"/>
                <a:ea typeface="Calibri"/>
              </a:rPr>
              <a:t>0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19"/>
          <p:cNvSpPr/>
          <p:nvPr/>
        </p:nvSpPr>
        <p:spPr>
          <a:xfrm>
            <a:off x="4251960" y="5742360"/>
            <a:ext cx="912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trike="noStrike" u="non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ADI 1.32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20"/>
          <p:cNvSpPr/>
          <p:nvPr/>
        </p:nvSpPr>
        <p:spPr>
          <a:xfrm>
            <a:off x="2286000" y="5989320"/>
            <a:ext cx="484488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99" strike="noStrike" u="none">
                <a:solidFill>
                  <a:srgbClr val="5a6b87"/>
                </a:solidFill>
                <a:effectLst/>
                <a:uFillTx/>
                <a:latin typeface="Calibri"/>
                <a:ea typeface="Calibri"/>
              </a:rPr>
              <a:t>DEMAND FREQUENCY (ADI)  →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21"/>
          <p:cNvSpPr/>
          <p:nvPr/>
        </p:nvSpPr>
        <p:spPr>
          <a:xfrm>
            <a:off x="1600200" y="5577840"/>
            <a:ext cx="501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5a6b87"/>
                </a:solidFill>
                <a:effectLst/>
                <a:uFillTx/>
                <a:latin typeface="Calibri"/>
                <a:ea typeface="Calibri"/>
              </a:rPr>
              <a:t>0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22"/>
          <p:cNvSpPr/>
          <p:nvPr/>
        </p:nvSpPr>
        <p:spPr>
          <a:xfrm>
            <a:off x="1600200" y="3721680"/>
            <a:ext cx="501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trike="noStrike" u="non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CV² 0.49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23"/>
          <p:cNvSpPr/>
          <p:nvPr/>
        </p:nvSpPr>
        <p:spPr>
          <a:xfrm>
            <a:off x="502920" y="1965960"/>
            <a:ext cx="912960" cy="374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5a6b87"/>
                </a:solidFill>
                <a:effectLst/>
                <a:uFillTx/>
                <a:latin typeface="Calibri"/>
                <a:ea typeface="Calibri"/>
              </a:rPr>
              <a:t>QUANTITY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5a6b87"/>
                </a:solidFill>
                <a:effectLst/>
                <a:uFillTx/>
                <a:latin typeface="Calibri"/>
                <a:ea typeface="Calibri"/>
              </a:rPr>
              <a:t>VARIABILITY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5a6b87"/>
                </a:solidFill>
                <a:effectLst/>
                <a:uFillTx/>
                <a:latin typeface="Calibri"/>
                <a:ea typeface="Calibri"/>
              </a:rPr>
              <a:t>(CV²)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5a6b87"/>
                </a:solidFill>
                <a:effectLst/>
                <a:uFillTx/>
                <a:latin typeface="Calibri"/>
                <a:ea typeface="Calibri"/>
              </a:rPr>
              <a:t>↑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24"/>
          <p:cNvSpPr/>
          <p:nvPr/>
        </p:nvSpPr>
        <p:spPr>
          <a:xfrm>
            <a:off x="7543800" y="1828800"/>
            <a:ext cx="40950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150" strike="noStrike" u="none">
                <a:solidFill>
                  <a:srgbClr val="00b4a6"/>
                </a:solidFill>
                <a:effectLst/>
                <a:uFillTx/>
                <a:latin typeface="Calibri"/>
                <a:ea typeface="Calibri"/>
              </a:rPr>
              <a:t>CLASSIFICATION FORMULAS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Shape 25"/>
          <p:cNvSpPr/>
          <p:nvPr/>
        </p:nvSpPr>
        <p:spPr>
          <a:xfrm>
            <a:off x="7543800" y="2148840"/>
            <a:ext cx="4095000" cy="958680"/>
          </a:xfrm>
          <a:prstGeom prst="roundRect">
            <a:avLst>
              <a:gd name="adj" fmla="val 7619"/>
            </a:avLst>
          </a:prstGeom>
          <a:solidFill>
            <a:srgbClr val="eef3fc"/>
          </a:solidFill>
          <a:ln w="12700">
            <a:solidFill>
              <a:srgbClr val="cadcf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26"/>
          <p:cNvSpPr/>
          <p:nvPr/>
        </p:nvSpPr>
        <p:spPr>
          <a:xfrm>
            <a:off x="7726680" y="2258640"/>
            <a:ext cx="37292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trike="noStrike" u="non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ADI — Average Demand Interval</a:t>
            </a:r>
            <a:endParaRPr b="0" lang="en-US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27"/>
          <p:cNvSpPr/>
          <p:nvPr/>
        </p:nvSpPr>
        <p:spPr>
          <a:xfrm>
            <a:off x="7726680" y="2569320"/>
            <a:ext cx="37292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1b2440"/>
                </a:solidFill>
                <a:effectLst/>
                <a:uFillTx/>
                <a:latin typeface="Courier New"/>
                <a:ea typeface="Courier New"/>
              </a:rPr>
              <a:t>= Total Periods ÷ Periods with Demand &gt; 0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28"/>
          <p:cNvSpPr/>
          <p:nvPr/>
        </p:nvSpPr>
        <p:spPr>
          <a:xfrm>
            <a:off x="7543800" y="3246120"/>
            <a:ext cx="4095000" cy="958680"/>
          </a:xfrm>
          <a:prstGeom prst="roundRect">
            <a:avLst>
              <a:gd name="adj" fmla="val 7619"/>
            </a:avLst>
          </a:prstGeom>
          <a:solidFill>
            <a:srgbClr val="eef3fc"/>
          </a:solidFill>
          <a:ln w="12700">
            <a:solidFill>
              <a:srgbClr val="cadcf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29"/>
          <p:cNvSpPr/>
          <p:nvPr/>
        </p:nvSpPr>
        <p:spPr>
          <a:xfrm>
            <a:off x="7726680" y="3355920"/>
            <a:ext cx="37292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trike="noStrike" u="non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CV² — Squared Coefficient of Variation</a:t>
            </a:r>
            <a:endParaRPr b="0" lang="en-US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30"/>
          <p:cNvSpPr/>
          <p:nvPr/>
        </p:nvSpPr>
        <p:spPr>
          <a:xfrm>
            <a:off x="7726680" y="3666600"/>
            <a:ext cx="37292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1b2440"/>
                </a:solidFill>
                <a:effectLst/>
                <a:uFillTx/>
                <a:latin typeface="Courier New"/>
                <a:ea typeface="Courier New"/>
              </a:rPr>
              <a:t>= (Std Dev of Demand ÷ Mean Demand)²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Shape 31"/>
          <p:cNvSpPr/>
          <p:nvPr/>
        </p:nvSpPr>
        <p:spPr>
          <a:xfrm>
            <a:off x="7543800" y="4389120"/>
            <a:ext cx="4095000" cy="1507320"/>
          </a:xfrm>
          <a:prstGeom prst="roundRect">
            <a:avLst>
              <a:gd name="adj" fmla="val 5455"/>
            </a:avLst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32"/>
          <p:cNvSpPr/>
          <p:nvPr/>
        </p:nvSpPr>
        <p:spPr>
          <a:xfrm>
            <a:off x="7745040" y="4526280"/>
            <a:ext cx="3692880" cy="12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50" strike="noStrike" u="non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Cutoffs of ADI = 1.32 and CV² = 0.49 (Syntetos–Boylan–Croston) split the plane into the four classes above — both the axes and every series' forecast method key off these two figures.</a:t>
            </a:r>
            <a:endParaRPr b="0" lang="en-US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Shape 0">
            <a:hlinkClick r:id="rId1" action="ppaction://hlinksldjump"/>
          </p:cNvPr>
          <p:cNvSpPr/>
          <p:nvPr/>
        </p:nvSpPr>
        <p:spPr>
          <a:xfrm>
            <a:off x="10314360" y="201240"/>
            <a:ext cx="1598760" cy="36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1"/>
          <p:cNvSpPr/>
          <p:nvPr/>
        </p:nvSpPr>
        <p:spPr>
          <a:xfrm>
            <a:off x="10314360" y="201240"/>
            <a:ext cx="1598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sng">
                <a:solidFill>
                  <a:srgbClr val="f2f2f2"/>
                </a:solidFill>
                <a:effectLst/>
                <a:uFillTx/>
                <a:latin typeface="Calibri"/>
                <a:ea typeface="Calibri"/>
                <a:hlinkClick r:id="rId2" action="ppaction://hlinksldjump"/>
              </a:rPr>
              <a:t>← Overview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2"/>
          <p:cNvSpPr/>
          <p:nvPr/>
        </p:nvSpPr>
        <p:spPr>
          <a:xfrm>
            <a:off x="11365920" y="649224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5a6b87"/>
                </a:solidFill>
                <a:effectLst/>
                <a:uFillTx/>
                <a:latin typeface="Calibri"/>
                <a:ea typeface="Calibri"/>
              </a:rPr>
              <a:t>7 / 9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3"/>
          <p:cNvSpPr/>
          <p:nvPr/>
        </p:nvSpPr>
        <p:spPr>
          <a:xfrm>
            <a:off x="548640" y="32004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201" strike="noStrike" u="none">
                <a:solidFill>
                  <a:srgbClr val="00b4a6"/>
                </a:solidFill>
                <a:effectLst/>
                <a:uFillTx/>
                <a:latin typeface="Calibri"/>
                <a:ea typeface="Calibri"/>
              </a:rPr>
              <a:t>SECTION 6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4"/>
          <p:cNvSpPr/>
          <p:nvPr/>
        </p:nvSpPr>
        <p:spPr>
          <a:xfrm>
            <a:off x="548640" y="567000"/>
            <a:ext cx="877680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1e2761"/>
                </a:solidFill>
                <a:effectLst/>
                <a:uFillTx/>
                <a:latin typeface="Cambria"/>
                <a:ea typeface="Cambria"/>
              </a:rPr>
              <a:t>Consensus Forecasting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5"/>
          <p:cNvSpPr/>
          <p:nvPr/>
        </p:nvSpPr>
        <p:spPr>
          <a:xfrm>
            <a:off x="548640" y="1417320"/>
            <a:ext cx="110628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1b2440"/>
                </a:solidFill>
                <a:effectLst/>
                <a:uFillTx/>
                <a:latin typeface="Calibri"/>
                <a:ea typeface="Calibri"/>
              </a:rPr>
              <a:t>The statistical baseline is a starting point, not the final answer. Consensus blends it with judgment from the commercial sales hierarchy before a version is locked for execution.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Shape 6"/>
          <p:cNvSpPr/>
          <p:nvPr/>
        </p:nvSpPr>
        <p:spPr>
          <a:xfrm>
            <a:off x="548640" y="2194560"/>
            <a:ext cx="2083320" cy="137016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Shape 7"/>
          <p:cNvSpPr/>
          <p:nvPr/>
        </p:nvSpPr>
        <p:spPr>
          <a:xfrm>
            <a:off x="1417320" y="2011680"/>
            <a:ext cx="345960" cy="345960"/>
          </a:xfrm>
          <a:prstGeom prst="ellipse">
            <a:avLst/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8"/>
          <p:cNvSpPr/>
          <p:nvPr/>
        </p:nvSpPr>
        <p:spPr>
          <a:xfrm>
            <a:off x="1417320" y="2011680"/>
            <a:ext cx="3459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9"/>
          <p:cNvSpPr/>
          <p:nvPr/>
        </p:nvSpPr>
        <p:spPr>
          <a:xfrm>
            <a:off x="685800" y="2423160"/>
            <a:ext cx="18090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Statistical Baseline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10"/>
          <p:cNvSpPr/>
          <p:nvPr/>
        </p:nvSpPr>
        <p:spPr>
          <a:xfrm>
            <a:off x="685800" y="2971800"/>
            <a:ext cx="18090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System-generated forecast version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11"/>
          <p:cNvSpPr/>
          <p:nvPr/>
        </p:nvSpPr>
        <p:spPr>
          <a:xfrm>
            <a:off x="2615040" y="2194560"/>
            <a:ext cx="19044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5a6b87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Shape 12"/>
          <p:cNvSpPr/>
          <p:nvPr/>
        </p:nvSpPr>
        <p:spPr>
          <a:xfrm>
            <a:off x="2788920" y="2194560"/>
            <a:ext cx="2083320" cy="137016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Shape 13"/>
          <p:cNvSpPr/>
          <p:nvPr/>
        </p:nvSpPr>
        <p:spPr>
          <a:xfrm>
            <a:off x="3657600" y="2011680"/>
            <a:ext cx="345960" cy="345960"/>
          </a:xfrm>
          <a:prstGeom prst="ellipse">
            <a:avLst/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14"/>
          <p:cNvSpPr/>
          <p:nvPr/>
        </p:nvSpPr>
        <p:spPr>
          <a:xfrm>
            <a:off x="3657600" y="2011680"/>
            <a:ext cx="3459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15"/>
          <p:cNvSpPr/>
          <p:nvPr/>
        </p:nvSpPr>
        <p:spPr>
          <a:xfrm>
            <a:off x="2926080" y="2423160"/>
            <a:ext cx="18090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Sales Rep Input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16"/>
          <p:cNvSpPr/>
          <p:nvPr/>
        </p:nvSpPr>
        <p:spPr>
          <a:xfrm>
            <a:off x="2926080" y="2971800"/>
            <a:ext cx="18090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Account-level demand knowledge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17"/>
          <p:cNvSpPr/>
          <p:nvPr/>
        </p:nvSpPr>
        <p:spPr>
          <a:xfrm>
            <a:off x="4855320" y="2194560"/>
            <a:ext cx="19044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5a6b87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Shape 18"/>
          <p:cNvSpPr/>
          <p:nvPr/>
        </p:nvSpPr>
        <p:spPr>
          <a:xfrm>
            <a:off x="5029200" y="2194560"/>
            <a:ext cx="2083320" cy="137016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19"/>
          <p:cNvSpPr/>
          <p:nvPr/>
        </p:nvSpPr>
        <p:spPr>
          <a:xfrm>
            <a:off x="5897880" y="2011680"/>
            <a:ext cx="345960" cy="345960"/>
          </a:xfrm>
          <a:prstGeom prst="ellipse">
            <a:avLst/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20"/>
          <p:cNvSpPr/>
          <p:nvPr/>
        </p:nvSpPr>
        <p:spPr>
          <a:xfrm>
            <a:off x="5897880" y="2011680"/>
            <a:ext cx="3459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21"/>
          <p:cNvSpPr/>
          <p:nvPr/>
        </p:nvSpPr>
        <p:spPr>
          <a:xfrm>
            <a:off x="5166360" y="2423160"/>
            <a:ext cx="18090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Regional Review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22"/>
          <p:cNvSpPr/>
          <p:nvPr/>
        </p:nvSpPr>
        <p:spPr>
          <a:xfrm>
            <a:off x="5166360" y="2971800"/>
            <a:ext cx="18090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Manager reconciles rep-level views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23"/>
          <p:cNvSpPr/>
          <p:nvPr/>
        </p:nvSpPr>
        <p:spPr>
          <a:xfrm>
            <a:off x="7095600" y="2194560"/>
            <a:ext cx="19044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5a6b87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Shape 24"/>
          <p:cNvSpPr/>
          <p:nvPr/>
        </p:nvSpPr>
        <p:spPr>
          <a:xfrm>
            <a:off x="7269480" y="2194560"/>
            <a:ext cx="2083320" cy="137016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" name="Shape 25"/>
          <p:cNvSpPr/>
          <p:nvPr/>
        </p:nvSpPr>
        <p:spPr>
          <a:xfrm>
            <a:off x="8138160" y="2011680"/>
            <a:ext cx="345960" cy="345960"/>
          </a:xfrm>
          <a:prstGeom prst="ellipse">
            <a:avLst/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26"/>
          <p:cNvSpPr/>
          <p:nvPr/>
        </p:nvSpPr>
        <p:spPr>
          <a:xfrm>
            <a:off x="8138160" y="2011680"/>
            <a:ext cx="3459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27"/>
          <p:cNvSpPr/>
          <p:nvPr/>
        </p:nvSpPr>
        <p:spPr>
          <a:xfrm>
            <a:off x="7406640" y="2423160"/>
            <a:ext cx="18090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Executive Sign-off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28"/>
          <p:cNvSpPr/>
          <p:nvPr/>
        </p:nvSpPr>
        <p:spPr>
          <a:xfrm>
            <a:off x="7406640" y="2971800"/>
            <a:ext cx="18090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National / top-of-hierarchy approval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29"/>
          <p:cNvSpPr/>
          <p:nvPr/>
        </p:nvSpPr>
        <p:spPr>
          <a:xfrm>
            <a:off x="9335880" y="2194560"/>
            <a:ext cx="19044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5a6b87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30"/>
          <p:cNvSpPr/>
          <p:nvPr/>
        </p:nvSpPr>
        <p:spPr>
          <a:xfrm>
            <a:off x="9509760" y="2194560"/>
            <a:ext cx="2083320" cy="1370160"/>
          </a:xfrm>
          <a:prstGeom prst="roundRect">
            <a:avLst>
              <a:gd name="adj" fmla="val 6000"/>
            </a:avLst>
          </a:prstGeom>
          <a:solidFill>
            <a:srgbClr val="00b4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Shape 31"/>
          <p:cNvSpPr/>
          <p:nvPr/>
        </p:nvSpPr>
        <p:spPr>
          <a:xfrm>
            <a:off x="10378440" y="2011680"/>
            <a:ext cx="345960" cy="345960"/>
          </a:xfrm>
          <a:prstGeom prst="ellipse">
            <a:avLst/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32"/>
          <p:cNvSpPr/>
          <p:nvPr/>
        </p:nvSpPr>
        <p:spPr>
          <a:xfrm>
            <a:off x="10378440" y="2011680"/>
            <a:ext cx="3459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5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33"/>
          <p:cNvSpPr/>
          <p:nvPr/>
        </p:nvSpPr>
        <p:spPr>
          <a:xfrm>
            <a:off x="9646920" y="2423160"/>
            <a:ext cx="18090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Consensus Version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34"/>
          <p:cNvSpPr/>
          <p:nvPr/>
        </p:nvSpPr>
        <p:spPr>
          <a:xfrm>
            <a:off x="9646920" y="2971800"/>
            <a:ext cx="18090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Locked forecast, ready to execute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Shape 35"/>
          <p:cNvSpPr/>
          <p:nvPr/>
        </p:nvSpPr>
        <p:spPr>
          <a:xfrm>
            <a:off x="548640" y="3977640"/>
            <a:ext cx="11090160" cy="912960"/>
          </a:xfrm>
          <a:prstGeom prst="roundRect">
            <a:avLst>
              <a:gd name="adj" fmla="val 8000"/>
            </a:avLst>
          </a:prstGeom>
          <a:solidFill>
            <a:srgbClr val="eef3fc"/>
          </a:solidFill>
          <a:ln w="12700">
            <a:solidFill>
              <a:srgbClr val="cadcf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36"/>
          <p:cNvSpPr/>
          <p:nvPr/>
        </p:nvSpPr>
        <p:spPr>
          <a:xfrm>
            <a:off x="777240" y="3977640"/>
            <a:ext cx="237600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trike="noStrike" u="non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Forecast Versions:  </a:t>
            </a:r>
            <a:endParaRPr b="0" lang="en-US" sz="12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37"/>
          <p:cNvSpPr/>
          <p:nvPr/>
        </p:nvSpPr>
        <p:spPr>
          <a:xfrm>
            <a:off x="3063240" y="3977640"/>
            <a:ext cx="836532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1b2440"/>
                </a:solidFill>
                <a:effectLst/>
                <a:uFillTx/>
                <a:latin typeface="Calibri"/>
                <a:ea typeface="Calibri"/>
              </a:rPr>
              <a:t>Each stage is saved as its own forecast version, so the statistical baseline is never overwritten — planners can always compare judgment against the model.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Shape 38"/>
          <p:cNvSpPr/>
          <p:nvPr/>
        </p:nvSpPr>
        <p:spPr>
          <a:xfrm>
            <a:off x="548640" y="5029200"/>
            <a:ext cx="11090160" cy="912960"/>
          </a:xfrm>
          <a:prstGeom prst="roundRect">
            <a:avLst>
              <a:gd name="adj" fmla="val 8000"/>
            </a:avLst>
          </a:prstGeom>
          <a:solidFill>
            <a:srgbClr val="eef3fc"/>
          </a:solidFill>
          <a:ln w="12700">
            <a:solidFill>
              <a:srgbClr val="cadcf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39"/>
          <p:cNvSpPr/>
          <p:nvPr/>
        </p:nvSpPr>
        <p:spPr>
          <a:xfrm>
            <a:off x="777240" y="5029200"/>
            <a:ext cx="237600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trike="noStrike" u="non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Sales Hierarchy Input:  </a:t>
            </a:r>
            <a:endParaRPr b="0" lang="en-US" sz="12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40"/>
          <p:cNvSpPr/>
          <p:nvPr/>
        </p:nvSpPr>
        <p:spPr>
          <a:xfrm>
            <a:off x="3063240" y="5029200"/>
            <a:ext cx="836532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1b2440"/>
                </a:solidFill>
                <a:effectLst/>
                <a:uFillTx/>
                <a:latin typeface="Calibri"/>
                <a:ea typeface="Calibri"/>
              </a:rPr>
              <a:t>Inputs roll up through the same sales-node hierarchy used for aggregation, keeping commercial and statistical views on one consistent structure.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Shape 0">
            <a:hlinkClick r:id="rId1" action="ppaction://hlinksldjump"/>
          </p:cNvPr>
          <p:cNvSpPr/>
          <p:nvPr/>
        </p:nvSpPr>
        <p:spPr>
          <a:xfrm>
            <a:off x="10314360" y="201240"/>
            <a:ext cx="1598760" cy="36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1"/>
          <p:cNvSpPr/>
          <p:nvPr/>
        </p:nvSpPr>
        <p:spPr>
          <a:xfrm>
            <a:off x="10314360" y="201240"/>
            <a:ext cx="1598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sng">
                <a:solidFill>
                  <a:srgbClr val="f2f2f2"/>
                </a:solidFill>
                <a:effectLst/>
                <a:uFillTx/>
                <a:latin typeface="Calibri"/>
                <a:ea typeface="Calibri"/>
                <a:hlinkClick r:id="rId2" action="ppaction://hlinksldjump"/>
              </a:rPr>
              <a:t>← Overview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2"/>
          <p:cNvSpPr/>
          <p:nvPr/>
        </p:nvSpPr>
        <p:spPr>
          <a:xfrm>
            <a:off x="11365920" y="649224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5a6b87"/>
                </a:solidFill>
                <a:effectLst/>
                <a:uFillTx/>
                <a:latin typeface="Calibri"/>
                <a:ea typeface="Calibri"/>
              </a:rPr>
              <a:t>8 / 9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3"/>
          <p:cNvSpPr/>
          <p:nvPr/>
        </p:nvSpPr>
        <p:spPr>
          <a:xfrm>
            <a:off x="548640" y="32004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201" strike="noStrike" u="none">
                <a:solidFill>
                  <a:srgbClr val="00b4a6"/>
                </a:solidFill>
                <a:effectLst/>
                <a:uFillTx/>
                <a:latin typeface="Calibri"/>
                <a:ea typeface="Calibri"/>
              </a:rPr>
              <a:t>SECTION 7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4"/>
          <p:cNvSpPr/>
          <p:nvPr/>
        </p:nvSpPr>
        <p:spPr>
          <a:xfrm>
            <a:off x="548640" y="567000"/>
            <a:ext cx="877680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1e2761"/>
                </a:solidFill>
                <a:effectLst/>
                <a:uFillTx/>
                <a:latin typeface="Cambria"/>
                <a:ea typeface="Cambria"/>
              </a:rPr>
              <a:t>Disaggregation of Overrides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5"/>
          <p:cNvSpPr/>
          <p:nvPr/>
        </p:nvSpPr>
        <p:spPr>
          <a:xfrm>
            <a:off x="548640" y="1417320"/>
            <a:ext cx="110628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1b2440"/>
                </a:solidFill>
                <a:effectLst/>
                <a:uFillTx/>
                <a:latin typeface="Calibri"/>
                <a:ea typeface="Calibri"/>
              </a:rPr>
              <a:t>A planner override entered at an aggregate level has to be pushed back down to the atomic grain to become executable — that push-down is disaggregation, and the method matters.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Shape 6"/>
          <p:cNvSpPr/>
          <p:nvPr/>
        </p:nvSpPr>
        <p:spPr>
          <a:xfrm>
            <a:off x="548640" y="2331720"/>
            <a:ext cx="2010600" cy="137016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7"/>
          <p:cNvSpPr/>
          <p:nvPr/>
        </p:nvSpPr>
        <p:spPr>
          <a:xfrm>
            <a:off x="685800" y="2331720"/>
            <a:ext cx="182736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Aggregate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Override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8"/>
          <p:cNvSpPr/>
          <p:nvPr/>
        </p:nvSpPr>
        <p:spPr>
          <a:xfrm>
            <a:off x="2481480" y="2331720"/>
            <a:ext cx="45576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5a6b87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Shape 9"/>
          <p:cNvSpPr/>
          <p:nvPr/>
        </p:nvSpPr>
        <p:spPr>
          <a:xfrm>
            <a:off x="2859840" y="2355120"/>
            <a:ext cx="2102040" cy="1370520"/>
          </a:xfrm>
          <a:prstGeom prst="roundRect">
            <a:avLst>
              <a:gd name="adj" fmla="val 5000"/>
            </a:avLst>
          </a:prstGeom>
          <a:solidFill>
            <a:srgbClr val="eef3fc"/>
          </a:solidFill>
          <a:ln w="15875">
            <a:solidFill>
              <a:srgbClr val="00b4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10"/>
          <p:cNvSpPr/>
          <p:nvPr/>
        </p:nvSpPr>
        <p:spPr>
          <a:xfrm>
            <a:off x="3024360" y="2431080"/>
            <a:ext cx="2001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51" strike="noStrike" u="non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PROPORTIONAL</a:t>
            </a:r>
            <a:endParaRPr b="0" lang="en-US" sz="12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11"/>
          <p:cNvSpPr/>
          <p:nvPr/>
        </p:nvSpPr>
        <p:spPr>
          <a:xfrm>
            <a:off x="3024360" y="2796840"/>
            <a:ext cx="2001240" cy="95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1b2440"/>
                </a:solidFill>
                <a:effectLst/>
                <a:uFillTx/>
                <a:latin typeface="Calibri"/>
                <a:ea typeface="Calibri"/>
              </a:rPr>
              <a:t>Splits by each series' historical share of the aggregate — the default, demand-shape-aware method.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Shape 12"/>
          <p:cNvSpPr/>
          <p:nvPr/>
        </p:nvSpPr>
        <p:spPr>
          <a:xfrm>
            <a:off x="5140080" y="2338560"/>
            <a:ext cx="2102040" cy="1370520"/>
          </a:xfrm>
          <a:prstGeom prst="roundRect">
            <a:avLst>
              <a:gd name="adj" fmla="val 5000"/>
            </a:avLst>
          </a:prstGeom>
          <a:solidFill>
            <a:srgbClr val="eef3fc"/>
          </a:solidFill>
          <a:ln w="15875">
            <a:solidFill>
              <a:srgbClr val="00b4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13"/>
          <p:cNvSpPr/>
          <p:nvPr/>
        </p:nvSpPr>
        <p:spPr>
          <a:xfrm>
            <a:off x="5304600" y="2503080"/>
            <a:ext cx="2001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51" strike="noStrike" u="non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EQUAL</a:t>
            </a:r>
            <a:endParaRPr b="0" lang="en-US" sz="12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14"/>
          <p:cNvSpPr/>
          <p:nvPr/>
        </p:nvSpPr>
        <p:spPr>
          <a:xfrm>
            <a:off x="5304600" y="2868840"/>
            <a:ext cx="2001240" cy="95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1b2440"/>
                </a:solidFill>
                <a:effectLst/>
                <a:uFillTx/>
                <a:latin typeface="Calibri"/>
                <a:ea typeface="Calibri"/>
              </a:rPr>
              <a:t>Splits the override evenly across all child series regardless of history.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Shape 15"/>
          <p:cNvSpPr/>
          <p:nvPr/>
        </p:nvSpPr>
        <p:spPr>
          <a:xfrm>
            <a:off x="7384320" y="2338560"/>
            <a:ext cx="2102040" cy="1370520"/>
          </a:xfrm>
          <a:prstGeom prst="roundRect">
            <a:avLst>
              <a:gd name="adj" fmla="val 5000"/>
            </a:avLst>
          </a:prstGeom>
          <a:solidFill>
            <a:srgbClr val="eef3fc"/>
          </a:solidFill>
          <a:ln w="15875">
            <a:solidFill>
              <a:srgbClr val="00b4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16"/>
          <p:cNvSpPr/>
          <p:nvPr/>
        </p:nvSpPr>
        <p:spPr>
          <a:xfrm>
            <a:off x="7549200" y="2503080"/>
            <a:ext cx="2001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51" strike="noStrike" u="non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CUSTOM</a:t>
            </a:r>
            <a:endParaRPr b="0" lang="en-US" sz="12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17"/>
          <p:cNvSpPr/>
          <p:nvPr/>
        </p:nvSpPr>
        <p:spPr>
          <a:xfrm>
            <a:off x="7549200" y="2868840"/>
            <a:ext cx="2001240" cy="95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1b2440"/>
                </a:solidFill>
                <a:effectLst/>
                <a:uFillTx/>
                <a:latin typeface="Calibri"/>
                <a:ea typeface="Calibri"/>
              </a:rPr>
              <a:t>Applies planner-specified weights or ratios for exceptional cases.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18"/>
          <p:cNvSpPr/>
          <p:nvPr/>
        </p:nvSpPr>
        <p:spPr>
          <a:xfrm>
            <a:off x="10049760" y="2194560"/>
            <a:ext cx="455760" cy="164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5a6b87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Shape 19"/>
          <p:cNvSpPr/>
          <p:nvPr/>
        </p:nvSpPr>
        <p:spPr>
          <a:xfrm>
            <a:off x="9583560" y="2331720"/>
            <a:ext cx="2010600" cy="1370160"/>
          </a:xfrm>
          <a:prstGeom prst="roundRect">
            <a:avLst>
              <a:gd name="adj" fmla="val 6000"/>
            </a:avLst>
          </a:prstGeom>
          <a:solidFill>
            <a:srgbClr val="00b4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20"/>
          <p:cNvSpPr/>
          <p:nvPr/>
        </p:nvSpPr>
        <p:spPr>
          <a:xfrm>
            <a:off x="9583560" y="2331720"/>
            <a:ext cx="146160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Atomic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Grain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Shape 21"/>
          <p:cNvSpPr/>
          <p:nvPr/>
        </p:nvSpPr>
        <p:spPr>
          <a:xfrm>
            <a:off x="548640" y="4251960"/>
            <a:ext cx="11090160" cy="2010240"/>
          </a:xfrm>
          <a:prstGeom prst="roundRect">
            <a:avLst>
              <a:gd name="adj" fmla="val 4091"/>
            </a:avLst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22"/>
          <p:cNvSpPr/>
          <p:nvPr/>
        </p:nvSpPr>
        <p:spPr>
          <a:xfrm>
            <a:off x="822960" y="4434840"/>
            <a:ext cx="105141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150" strike="noStrike" u="none">
                <a:solidFill>
                  <a:srgbClr val="00b4a6"/>
                </a:solidFill>
                <a:effectLst/>
                <a:uFillTx/>
                <a:latin typeface="Calibri"/>
                <a:ea typeface="Calibri"/>
              </a:rPr>
              <a:t>REPLACEMENT, NOT ADDITION</a:t>
            </a:r>
            <a:endParaRPr b="0" lang="en-US" sz="12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23"/>
          <p:cNvSpPr/>
          <p:nvPr/>
        </p:nvSpPr>
        <p:spPr>
          <a:xfrm>
            <a:off x="822960" y="4800600"/>
            <a:ext cx="1051416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The override defines a new target for the aggregate, and disaggregation distributes that target down to each child series — it replaces the prior forecast lines at the atomic grain rather than adding to them. Applying it additively silently inflates the plan, which is why the disaggregation step always resolves to a target, not a delta.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Shape 0">
            <a:hlinkClick r:id="rId1" action="ppaction://hlinksldjump"/>
          </p:cNvPr>
          <p:cNvSpPr/>
          <p:nvPr/>
        </p:nvSpPr>
        <p:spPr>
          <a:xfrm>
            <a:off x="10314360" y="201240"/>
            <a:ext cx="1598760" cy="36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1"/>
          <p:cNvSpPr/>
          <p:nvPr/>
        </p:nvSpPr>
        <p:spPr>
          <a:xfrm>
            <a:off x="10314360" y="201240"/>
            <a:ext cx="1598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sng">
                <a:solidFill>
                  <a:srgbClr val="f2f2f2"/>
                </a:solidFill>
                <a:effectLst/>
                <a:uFillTx/>
                <a:latin typeface="Calibri"/>
                <a:ea typeface="Calibri"/>
                <a:hlinkClick r:id="rId2" action="ppaction://hlinksldjump"/>
              </a:rPr>
              <a:t>← Overview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2"/>
          <p:cNvSpPr/>
          <p:nvPr/>
        </p:nvSpPr>
        <p:spPr>
          <a:xfrm>
            <a:off x="11365920" y="649224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5a6b87"/>
                </a:solidFill>
                <a:effectLst/>
                <a:uFillTx/>
                <a:latin typeface="Calibri"/>
                <a:ea typeface="Calibri"/>
              </a:rPr>
              <a:t>9 / 9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3"/>
          <p:cNvSpPr/>
          <p:nvPr/>
        </p:nvSpPr>
        <p:spPr>
          <a:xfrm>
            <a:off x="548640" y="32004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201" strike="noStrike" u="none">
                <a:solidFill>
                  <a:srgbClr val="00b4a6"/>
                </a:solidFill>
                <a:effectLst/>
                <a:uFillTx/>
                <a:latin typeface="Calibri"/>
                <a:ea typeface="Calibri"/>
              </a:rPr>
              <a:t>SECTION 8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4"/>
          <p:cNvSpPr/>
          <p:nvPr/>
        </p:nvSpPr>
        <p:spPr>
          <a:xfrm>
            <a:off x="548640" y="567000"/>
            <a:ext cx="877680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1e2761"/>
                </a:solidFill>
                <a:effectLst/>
                <a:uFillTx/>
                <a:latin typeface="Cambria"/>
                <a:ea typeface="Cambria"/>
              </a:rPr>
              <a:t>Iterative Forecastability Search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5"/>
          <p:cNvSpPr/>
          <p:nvPr/>
        </p:nvSpPr>
        <p:spPr>
          <a:xfrm>
            <a:off x="548640" y="1371600"/>
            <a:ext cx="110628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1b2440"/>
                </a:solidFill>
                <a:effectLst/>
                <a:uFillTx/>
                <a:latin typeface="Calibri"/>
                <a:ea typeface="Calibri"/>
              </a:rPr>
              <a:t>When a series is too lumpy to forecast at its native grain, the engine walks up a defined ladder of coarser levels — across location/channel/customer, sales hierarchy, product taxonomy and time — until it finds one that is forecastable.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Shape 6"/>
          <p:cNvSpPr/>
          <p:nvPr/>
        </p:nvSpPr>
        <p:spPr>
          <a:xfrm>
            <a:off x="548640" y="2057400"/>
            <a:ext cx="11090160" cy="336960"/>
          </a:xfrm>
          <a:prstGeom prst="roundRect">
            <a:avLst>
              <a:gd name="adj" fmla="val 16216"/>
            </a:avLst>
          </a:prstGeom>
          <a:solidFill>
            <a:srgbClr val="eef3fc"/>
          </a:solidFill>
          <a:ln w="9525">
            <a:solidFill>
              <a:srgbClr val="cadcf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7"/>
          <p:cNvSpPr/>
          <p:nvPr/>
        </p:nvSpPr>
        <p:spPr>
          <a:xfrm>
            <a:off x="621720" y="2057400"/>
            <a:ext cx="291240" cy="33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trike="noStrike" u="non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8"/>
          <p:cNvSpPr/>
          <p:nvPr/>
        </p:nvSpPr>
        <p:spPr>
          <a:xfrm>
            <a:off x="1005840" y="2057400"/>
            <a:ext cx="8136720" cy="33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trike="noStrike" u="none">
                <a:solidFill>
                  <a:srgbClr val="1e2761"/>
                </a:solidFill>
                <a:effectLst/>
                <a:uFillTx/>
                <a:latin typeface="Courier New"/>
                <a:ea typeface="Courier New"/>
              </a:rPr>
              <a:t>item_loc_dc_cust</a:t>
            </a:r>
            <a:r>
              <a:rPr b="0" lang="en-US" sz="1100" strike="noStrike" u="none">
                <a:solidFill>
                  <a:srgbClr val="5a6b87"/>
                </a:solidFill>
                <a:effectLst/>
                <a:uFillTx/>
                <a:latin typeface="Calibri"/>
                <a:ea typeface="Calibri"/>
              </a:rPr>
              <a:t>   —   Item × leaf location × channel × customer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9"/>
          <p:cNvSpPr/>
          <p:nvPr/>
        </p:nvSpPr>
        <p:spPr>
          <a:xfrm>
            <a:off x="9537120" y="2057400"/>
            <a:ext cx="1415880" cy="33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51" strike="noStrike" u="none">
                <a:solidFill>
                  <a:srgbClr val="00b4a6"/>
                </a:solidFill>
                <a:effectLst/>
                <a:uFillTx/>
                <a:latin typeface="Calibri"/>
                <a:ea typeface="Calibri"/>
              </a:rPr>
              <a:t>SHAPE A · ATOMIC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Shape 10"/>
          <p:cNvSpPr/>
          <p:nvPr/>
        </p:nvSpPr>
        <p:spPr>
          <a:xfrm>
            <a:off x="548640" y="2459880"/>
            <a:ext cx="11090160" cy="336960"/>
          </a:xfrm>
          <a:prstGeom prst="roundRect">
            <a:avLst>
              <a:gd name="adj" fmla="val 16216"/>
            </a:avLst>
          </a:prstGeom>
          <a:solidFill>
            <a:srgbClr val="eef3fc"/>
          </a:solidFill>
          <a:ln w="9525">
            <a:solidFill>
              <a:srgbClr val="cadcf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11"/>
          <p:cNvSpPr/>
          <p:nvPr/>
        </p:nvSpPr>
        <p:spPr>
          <a:xfrm>
            <a:off x="621720" y="2459880"/>
            <a:ext cx="291240" cy="33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trike="noStrike" u="non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12"/>
          <p:cNvSpPr/>
          <p:nvPr/>
        </p:nvSpPr>
        <p:spPr>
          <a:xfrm>
            <a:off x="1005840" y="2459880"/>
            <a:ext cx="8136720" cy="33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trike="noStrike" u="none">
                <a:solidFill>
                  <a:srgbClr val="1e2761"/>
                </a:solidFill>
                <a:effectLst/>
                <a:uFillTx/>
                <a:latin typeface="Courier New"/>
                <a:ea typeface="Courier New"/>
              </a:rPr>
              <a:t>item_loc_dc</a:t>
            </a:r>
            <a:r>
              <a:rPr b="0" lang="en-US" sz="1100" strike="noStrike" u="none">
                <a:solidFill>
                  <a:srgbClr val="5a6b87"/>
                </a:solidFill>
                <a:effectLst/>
                <a:uFillTx/>
                <a:latin typeface="Calibri"/>
                <a:ea typeface="Calibri"/>
              </a:rPr>
              <a:t>   —   Item × leaf location × channel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13"/>
          <p:cNvSpPr/>
          <p:nvPr/>
        </p:nvSpPr>
        <p:spPr>
          <a:xfrm>
            <a:off x="9537120" y="2459880"/>
            <a:ext cx="1415880" cy="33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51" strike="noStrike" u="none">
                <a:solidFill>
                  <a:srgbClr val="00b4a6"/>
                </a:solidFill>
                <a:effectLst/>
                <a:uFillTx/>
                <a:latin typeface="Calibri"/>
                <a:ea typeface="Calibri"/>
              </a:rPr>
              <a:t>SHAPE B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Shape 14"/>
          <p:cNvSpPr/>
          <p:nvPr/>
        </p:nvSpPr>
        <p:spPr>
          <a:xfrm>
            <a:off x="548640" y="2862000"/>
            <a:ext cx="11090160" cy="336960"/>
          </a:xfrm>
          <a:prstGeom prst="roundRect">
            <a:avLst>
              <a:gd name="adj" fmla="val 16216"/>
            </a:avLst>
          </a:prstGeom>
          <a:solidFill>
            <a:srgbClr val="eef3fc"/>
          </a:solidFill>
          <a:ln w="9525">
            <a:solidFill>
              <a:srgbClr val="cadcf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15"/>
          <p:cNvSpPr/>
          <p:nvPr/>
        </p:nvSpPr>
        <p:spPr>
          <a:xfrm>
            <a:off x="621720" y="2862000"/>
            <a:ext cx="291240" cy="33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trike="noStrike" u="non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3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16"/>
          <p:cNvSpPr/>
          <p:nvPr/>
        </p:nvSpPr>
        <p:spPr>
          <a:xfrm>
            <a:off x="1005840" y="2862000"/>
            <a:ext cx="8136720" cy="33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trike="noStrike" u="none">
                <a:solidFill>
                  <a:srgbClr val="1e2761"/>
                </a:solidFill>
                <a:effectLst/>
                <a:uFillTx/>
                <a:latin typeface="Courier New"/>
                <a:ea typeface="Courier New"/>
              </a:rPr>
              <a:t>item_loc</a:t>
            </a:r>
            <a:r>
              <a:rPr b="0" lang="en-US" sz="1100" strike="noStrike" u="none">
                <a:solidFill>
                  <a:srgbClr val="5a6b87"/>
                </a:solidFill>
                <a:effectLst/>
                <a:uFillTx/>
                <a:latin typeface="Calibri"/>
                <a:ea typeface="Calibri"/>
              </a:rPr>
              <a:t>   —   Item × leaf location only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17"/>
          <p:cNvSpPr/>
          <p:nvPr/>
        </p:nvSpPr>
        <p:spPr>
          <a:xfrm>
            <a:off x="9537120" y="2862000"/>
            <a:ext cx="1415880" cy="33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51" strike="noStrike" u="none">
                <a:solidFill>
                  <a:srgbClr val="00b4a6"/>
                </a:solidFill>
                <a:effectLst/>
                <a:uFillTx/>
                <a:latin typeface="Calibri"/>
                <a:ea typeface="Calibri"/>
              </a:rPr>
              <a:t>SHAPE C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Shape 18"/>
          <p:cNvSpPr/>
          <p:nvPr/>
        </p:nvSpPr>
        <p:spPr>
          <a:xfrm>
            <a:off x="548640" y="3264480"/>
            <a:ext cx="11090160" cy="336960"/>
          </a:xfrm>
          <a:prstGeom prst="roundRect">
            <a:avLst>
              <a:gd name="adj" fmla="val 16216"/>
            </a:avLst>
          </a:prstGeom>
          <a:solidFill>
            <a:srgbClr val="eef3fc"/>
          </a:solidFill>
          <a:ln w="9525">
            <a:solidFill>
              <a:srgbClr val="cadcf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19"/>
          <p:cNvSpPr/>
          <p:nvPr/>
        </p:nvSpPr>
        <p:spPr>
          <a:xfrm>
            <a:off x="621720" y="3264480"/>
            <a:ext cx="291240" cy="33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trike="noStrike" u="non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4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20"/>
          <p:cNvSpPr/>
          <p:nvPr/>
        </p:nvSpPr>
        <p:spPr>
          <a:xfrm>
            <a:off x="1005840" y="3264480"/>
            <a:ext cx="8136720" cy="33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trike="noStrike" u="none">
                <a:solidFill>
                  <a:srgbClr val="1e2761"/>
                </a:solidFill>
                <a:effectLst/>
                <a:uFillTx/>
                <a:latin typeface="Courier New"/>
                <a:ea typeface="Courier New"/>
              </a:rPr>
              <a:t>item_salesnode_{node_id}</a:t>
            </a:r>
            <a:r>
              <a:rPr b="0" lang="en-US" sz="1100" strike="noStrike" u="none">
                <a:solidFill>
                  <a:srgbClr val="5a6b87"/>
                </a:solidFill>
                <a:effectLst/>
                <a:uFillTx/>
                <a:latin typeface="Calibri"/>
                <a:ea typeface="Calibri"/>
              </a:rPr>
              <a:t>   —   Item rolled up to a SalesNode ancestor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Shape 21"/>
          <p:cNvSpPr/>
          <p:nvPr/>
        </p:nvSpPr>
        <p:spPr>
          <a:xfrm>
            <a:off x="548640" y="3666600"/>
            <a:ext cx="11090160" cy="336960"/>
          </a:xfrm>
          <a:prstGeom prst="roundRect">
            <a:avLst>
              <a:gd name="adj" fmla="val 16216"/>
            </a:avLst>
          </a:prstGeom>
          <a:solidFill>
            <a:srgbClr val="eef3fc"/>
          </a:solidFill>
          <a:ln w="9525">
            <a:solidFill>
              <a:srgbClr val="cadcf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22"/>
          <p:cNvSpPr/>
          <p:nvPr/>
        </p:nvSpPr>
        <p:spPr>
          <a:xfrm>
            <a:off x="621720" y="3666600"/>
            <a:ext cx="291240" cy="33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trike="noStrike" u="non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5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23"/>
          <p:cNvSpPr/>
          <p:nvPr/>
        </p:nvSpPr>
        <p:spPr>
          <a:xfrm>
            <a:off x="1005840" y="3666600"/>
            <a:ext cx="8136720" cy="33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trike="noStrike" u="none">
                <a:solidFill>
                  <a:srgbClr val="1e2761"/>
                </a:solidFill>
                <a:effectLst/>
                <a:uFillTx/>
                <a:latin typeface="Courier New"/>
                <a:ea typeface="Courier New"/>
              </a:rPr>
              <a:t>item_salesnode_top_{period}</a:t>
            </a:r>
            <a:r>
              <a:rPr b="0" lang="en-US" sz="1100" strike="noStrike" u="none">
                <a:solidFill>
                  <a:srgbClr val="5a6b87"/>
                </a:solidFill>
                <a:effectLst/>
                <a:uFillTx/>
                <a:latin typeface="Calibri"/>
                <a:ea typeface="Calibri"/>
              </a:rPr>
              <a:t>   —   Item at the root SalesNode, coarser period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Shape 24"/>
          <p:cNvSpPr/>
          <p:nvPr/>
        </p:nvSpPr>
        <p:spPr>
          <a:xfrm>
            <a:off x="548640" y="4069080"/>
            <a:ext cx="11090160" cy="336960"/>
          </a:xfrm>
          <a:prstGeom prst="roundRect">
            <a:avLst>
              <a:gd name="adj" fmla="val 16216"/>
            </a:avLst>
          </a:prstGeom>
          <a:solidFill>
            <a:srgbClr val="eef3fc"/>
          </a:solidFill>
          <a:ln w="9525">
            <a:solidFill>
              <a:srgbClr val="cadcf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25"/>
          <p:cNvSpPr/>
          <p:nvPr/>
        </p:nvSpPr>
        <p:spPr>
          <a:xfrm>
            <a:off x="621720" y="4069080"/>
            <a:ext cx="291240" cy="33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trike="noStrike" u="non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6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26"/>
          <p:cNvSpPr/>
          <p:nvPr/>
        </p:nvSpPr>
        <p:spPr>
          <a:xfrm>
            <a:off x="1005840" y="4069080"/>
            <a:ext cx="8136720" cy="33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trike="noStrike" u="none">
                <a:solidFill>
                  <a:srgbClr val="1e2761"/>
                </a:solidFill>
                <a:effectLst/>
                <a:uFillTx/>
                <a:latin typeface="Courier New"/>
                <a:ea typeface="Courier New"/>
              </a:rPr>
              <a:t>taxon_{node_id}_loc</a:t>
            </a:r>
            <a:r>
              <a:rPr b="0" lang="en-US" sz="1100" strike="noStrike" u="none">
                <a:solidFill>
                  <a:srgbClr val="5a6b87"/>
                </a:solidFill>
                <a:effectLst/>
                <a:uFillTx/>
                <a:latin typeface="Calibri"/>
                <a:ea typeface="Calibri"/>
              </a:rPr>
              <a:t>   —   Item-hierarchy-rolled variants of all the above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Shape 27"/>
          <p:cNvSpPr/>
          <p:nvPr/>
        </p:nvSpPr>
        <p:spPr>
          <a:xfrm>
            <a:off x="548640" y="4471560"/>
            <a:ext cx="11090160" cy="336960"/>
          </a:xfrm>
          <a:prstGeom prst="roundRect">
            <a:avLst>
              <a:gd name="adj" fmla="val 16216"/>
            </a:avLst>
          </a:prstGeom>
          <a:solidFill>
            <a:srgbClr val="eef3fc"/>
          </a:solidFill>
          <a:ln w="9525">
            <a:solidFill>
              <a:srgbClr val="cadcf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28"/>
          <p:cNvSpPr/>
          <p:nvPr/>
        </p:nvSpPr>
        <p:spPr>
          <a:xfrm>
            <a:off x="621720" y="4471560"/>
            <a:ext cx="291240" cy="33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trike="noStrike" u="non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7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29"/>
          <p:cNvSpPr/>
          <p:nvPr/>
        </p:nvSpPr>
        <p:spPr>
          <a:xfrm>
            <a:off x="1005840" y="4471560"/>
            <a:ext cx="8136720" cy="33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trike="noStrike" u="none">
                <a:solidFill>
                  <a:srgbClr val="1e2761"/>
                </a:solidFill>
                <a:effectLst/>
                <a:uFillTx/>
                <a:latin typeface="Courier New"/>
                <a:ea typeface="Courier New"/>
              </a:rPr>
              <a:t>taxon_{node_id}_salesnode_{sn_id}</a:t>
            </a:r>
            <a:r>
              <a:rPr b="0" lang="en-US" sz="1100" strike="noStrike" u="none">
                <a:solidFill>
                  <a:srgbClr val="5a6b87"/>
                </a:solidFill>
                <a:effectLst/>
                <a:uFillTx/>
                <a:latin typeface="Calibri"/>
                <a:ea typeface="Calibri"/>
              </a:rPr>
              <a:t>   —   Taxonomy-rolled item at a SalesNode ancestor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Shape 30"/>
          <p:cNvSpPr/>
          <p:nvPr/>
        </p:nvSpPr>
        <p:spPr>
          <a:xfrm>
            <a:off x="548640" y="4873680"/>
            <a:ext cx="11090160" cy="336960"/>
          </a:xfrm>
          <a:prstGeom prst="roundRect">
            <a:avLst>
              <a:gd name="adj" fmla="val 16216"/>
            </a:avLst>
          </a:prstGeom>
          <a:solidFill>
            <a:srgbClr val="eef3fc"/>
          </a:solidFill>
          <a:ln w="9525">
            <a:solidFill>
              <a:srgbClr val="cadcf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31"/>
          <p:cNvSpPr/>
          <p:nvPr/>
        </p:nvSpPr>
        <p:spPr>
          <a:xfrm>
            <a:off x="621720" y="4873680"/>
            <a:ext cx="291240" cy="33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trike="noStrike" u="non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8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32"/>
          <p:cNvSpPr/>
          <p:nvPr/>
        </p:nvSpPr>
        <p:spPr>
          <a:xfrm>
            <a:off x="1005840" y="4873680"/>
            <a:ext cx="8136720" cy="33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trike="noStrike" u="none">
                <a:solidFill>
                  <a:srgbClr val="1e2761"/>
                </a:solidFill>
                <a:effectLst/>
                <a:uFillTx/>
                <a:latin typeface="Courier New"/>
                <a:ea typeface="Courier New"/>
              </a:rPr>
              <a:t>taxon_{node_id}_salesnode_top_{period}</a:t>
            </a:r>
            <a:r>
              <a:rPr b="0" lang="en-US" sz="1100" strike="noStrike" u="none">
                <a:solidFill>
                  <a:srgbClr val="5a6b87"/>
                </a:solidFill>
                <a:effectLst/>
                <a:uFillTx/>
                <a:latin typeface="Calibri"/>
                <a:ea typeface="Calibri"/>
              </a:rPr>
              <a:t>   —   Taxonomy-rolled item, root SalesNode, coarser period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Shape 33"/>
          <p:cNvSpPr/>
          <p:nvPr/>
        </p:nvSpPr>
        <p:spPr>
          <a:xfrm>
            <a:off x="548640" y="5276160"/>
            <a:ext cx="11090160" cy="336960"/>
          </a:xfrm>
          <a:prstGeom prst="roundRect">
            <a:avLst>
              <a:gd name="adj" fmla="val 16216"/>
            </a:avLst>
          </a:prstGeom>
          <a:solidFill>
            <a:srgbClr val="f4e7e6"/>
          </a:solidFill>
          <a:ln w="9525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34"/>
          <p:cNvSpPr/>
          <p:nvPr/>
        </p:nvSpPr>
        <p:spPr>
          <a:xfrm>
            <a:off x="621720" y="5276160"/>
            <a:ext cx="291240" cy="33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trike="noStrike" u="none">
                <a:solidFill>
                  <a:srgbClr val="c0392b"/>
                </a:solidFill>
                <a:effectLst/>
                <a:uFillTx/>
                <a:latin typeface="Calibri"/>
                <a:ea typeface="Calibri"/>
              </a:rPr>
              <a:t>9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35"/>
          <p:cNvSpPr/>
          <p:nvPr/>
        </p:nvSpPr>
        <p:spPr>
          <a:xfrm>
            <a:off x="1005840" y="5276160"/>
            <a:ext cx="8136720" cy="33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trike="noStrike" u="none">
                <a:solidFill>
                  <a:srgbClr val="c0392b"/>
                </a:solidFill>
                <a:effectLst/>
                <a:uFillTx/>
                <a:latin typeface="Courier New"/>
                <a:ea typeface="Courier New"/>
              </a:rPr>
              <a:t>manual</a:t>
            </a:r>
            <a:r>
              <a:rPr b="0" lang="en-US" sz="1100" strike="noStrike" u="none">
                <a:solidFill>
                  <a:srgbClr val="5a6b87"/>
                </a:solidFill>
                <a:effectLst/>
                <a:uFillTx/>
                <a:latin typeface="Calibri"/>
                <a:ea typeface="Calibri"/>
              </a:rPr>
              <a:t>   —   Entire item hierarchy exhausted — no forecastable level found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 36"/>
          <p:cNvSpPr/>
          <p:nvPr/>
        </p:nvSpPr>
        <p:spPr>
          <a:xfrm>
            <a:off x="9537120" y="5276160"/>
            <a:ext cx="1415880" cy="33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51" strike="noStrike" u="none">
                <a:solidFill>
                  <a:srgbClr val="00b4a6"/>
                </a:solidFill>
                <a:effectLst/>
                <a:uFillTx/>
                <a:latin typeface="Calibri"/>
                <a:ea typeface="Calibri"/>
              </a:rPr>
              <a:t>FALLBACK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Shape 37"/>
          <p:cNvSpPr/>
          <p:nvPr/>
        </p:nvSpPr>
        <p:spPr>
          <a:xfrm>
            <a:off x="548640" y="5934600"/>
            <a:ext cx="11090160" cy="91296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38"/>
          <p:cNvSpPr/>
          <p:nvPr/>
        </p:nvSpPr>
        <p:spPr>
          <a:xfrm>
            <a:off x="822960" y="5934600"/>
            <a:ext cx="1051416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The ladder tries the atomic item × location grains first (finest → coarsest), then the sales-hierarchy roll-ups, then repeats the same ladder against the taxonomy roll-up. If every level is still unforecastable, the series falls back to manual planning.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f2f2f2"/>
      </a:hlink>
      <a:folHlink>
        <a:srgbClr val="f2f2f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</TotalTime>
  <Application>LibreOffice/25.2.5.2$Linux_X86_64 LibreOffice_project/520$Build-2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2026-07-22T07:49:21Z</dcterms:created>
  <dc:creator>PptxGenJS</dc:creator>
  <dc:description/>
  <dc:language>en-US</dc:language>
  <cp:lastModifiedBy/>
  <dcterms:modified xsi:type="dcterms:W3CDTF">2026-08-19T12:34:05Z</dcterms:modified>
  <cp:revision>6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9</vt:i4>
  </property>
  <property fmtid="{D5CDD505-2E9C-101B-9397-08002B2CF9AE}" pid="3" name="PresentationFormat">
    <vt:lpwstr>On-screen Show (16:9)</vt:lpwstr>
  </property>
  <property fmtid="{D5CDD505-2E9C-101B-9397-08002B2CF9AE}" pid="4" name="Slides">
    <vt:i4>9</vt:i4>
  </property>
</Properties>
</file>