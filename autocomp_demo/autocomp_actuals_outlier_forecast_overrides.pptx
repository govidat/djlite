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964D5F-6EF8-4144-AC04-6203A8EFAE0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9ADC86-7282-4D8B-80D4-1A93DDE12D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5C19FE-5355-4884-8C24-1CC03DBE9C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FDE33F-6A0E-4B96-8969-A48A56B5FE9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428172-B2DA-4B2F-9A10-80E1E25B026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597777-784A-4D8E-B6D9-91CD7FDDC8B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F8539D-8E7F-4EFB-A84D-C7FBEF2F328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7917AE-5F2C-45C9-9CDB-12AE1825521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F78B0B-A374-4AE3-B92E-7D6853FF41C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FAE48F-3B28-4DA4-9669-7777FA1E9F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A96241-4A52-4AE5-8F6F-9EA9305C3EB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914400" y="2194560"/>
            <a:ext cx="103323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8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autocomp — Demand Planning Demo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6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Actuals Upload · Outlier Management · Forecasting · Overrides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Client: autocomp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1950120"/>
            <a:ext cx="10332360" cy="27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01  Actuals Upload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Bring in actual sales from Excel/CSV, review status and roll up the hierarchy.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autocomp — Demand Planning Demo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Picture 2" descr="12-actuals.png"/>
          <p:cNvPicPr/>
          <p:nvPr/>
        </p:nvPicPr>
        <p:blipFill>
          <a:blip r:embed="rId1"/>
          <a:srcRect l="0" t="0" r="15622" b="0"/>
          <a:stretch/>
        </p:blipFill>
        <p:spPr>
          <a:xfrm>
            <a:off x="952560" y="0"/>
            <a:ext cx="10286640" cy="55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3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Actuals — List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/autocomp/demand/actuals/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Imported actual-sales records with status.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2" descr="13-actuals-upload.png"/>
          <p:cNvPicPr/>
          <p:nvPr/>
        </p:nvPicPr>
        <p:blipFill>
          <a:blip r:embed="rId1"/>
          <a:srcRect l="0" t="0" r="15622" b="0"/>
          <a:stretch/>
        </p:blipFill>
        <p:spPr>
          <a:xfrm>
            <a:off x="952560" y="0"/>
            <a:ext cx="10286640" cy="55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Rectangle 3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Actuals — Upload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/autocomp/demand/actuals/upload/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Upload actuals via Excel/CSV template.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Picture 2" descr="14-actuals-aggregates.png"/>
          <p:cNvPicPr/>
          <p:nvPr/>
        </p:nvPicPr>
        <p:blipFill>
          <a:blip r:embed="rId1"/>
          <a:srcRect l="0" t="0" r="15622" b="0"/>
          <a:stretch/>
        </p:blipFill>
        <p:spPr>
          <a:xfrm>
            <a:off x="952560" y="0"/>
            <a:ext cx="10286640" cy="55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Rectangle 3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Actuals — Aggregates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/autocomp/demand/actuals/aggregates/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Net actuals rolled up by location/item/channel.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914400" y="1950120"/>
            <a:ext cx="10332360" cy="27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02  Outlier Management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Review the candidate queue, trigger detection and audit planner decisions.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autocomp — Demand Planning Demo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Picture 2" descr="16-outlier-queue.png"/>
          <p:cNvPicPr/>
          <p:nvPr/>
        </p:nvPicPr>
        <p:blipFill>
          <a:blip r:embed="rId1"/>
          <a:srcRect l="0" t="0" r="15622" b="0"/>
          <a:stretch/>
        </p:blipFill>
        <p:spPr>
          <a:xfrm>
            <a:off x="952560" y="0"/>
            <a:ext cx="10286640" cy="55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Rectangle 3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Outlier — Queue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/autocomp/demand/outliers/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Planner review queue of CANDIDATE outliers with system-suggested reasons.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2" name="Picture 2" descr="17-outlier-detectio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55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Rectangle 3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Outlier — Detection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/autocomp/demand/outliers/detection-form/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Planner-triggered outlier detection for a per-series basis.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Picture 2" descr="18-outlier-decisions.png"/>
          <p:cNvPicPr/>
          <p:nvPr/>
        </p:nvPicPr>
        <p:blipFill>
          <a:blip r:embed="rId1"/>
          <a:srcRect l="0" t="0" r="15622" b="0"/>
          <a:stretch/>
        </p:blipFill>
        <p:spPr>
          <a:xfrm>
            <a:off x="952560" y="0"/>
            <a:ext cx="10286640" cy="55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Rectangle 3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Outlier — Decisions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/autocomp/demand/outliers/decisions/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Audit report of confirmed/rejected/revised outlier decisions.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914400" y="1950120"/>
            <a:ext cx="10332360" cy="27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03  Forecasting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Versions, engine config, forecast lines, roll-ups, drill-down and accuracy.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autocomp — Demand Planning Demo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Picture 2" descr="04-versions.png"/>
          <p:cNvPicPr/>
          <p:nvPr/>
        </p:nvPicPr>
        <p:blipFill>
          <a:blip r:embed="rId1"/>
          <a:srcRect l="0" t="0" r="15622" b="0"/>
          <a:stretch/>
        </p:blipFill>
        <p:spPr>
          <a:xfrm>
            <a:off x="952560" y="0"/>
            <a:ext cx="10286640" cy="55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Rectangle 3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Forecast Versions — List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/autocomp/demand/versions/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All forecast versions with status (DRAFT/IN_REVIEW/APPROVED/LOCKED).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6" name="Picture 2" descr="05-version-detail.png"/>
          <p:cNvPicPr/>
          <p:nvPr/>
        </p:nvPicPr>
        <p:blipFill>
          <a:blip r:embed="rId1"/>
          <a:srcRect l="0" t="0" r="15622" b="0"/>
          <a:stretch/>
        </p:blipFill>
        <p:spPr>
          <a:xfrm>
            <a:off x="952560" y="0"/>
            <a:ext cx="10286640" cy="55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Rectangle 3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Forecast Version — Detail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/autocomp/demand/versions/24/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Version header, period range, engine config and status controls.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0" name="Picture 2" descr="06-forecast-grid.png"/>
          <p:cNvPicPr/>
          <p:nvPr/>
        </p:nvPicPr>
        <p:blipFill>
          <a:blip r:embed="rId1"/>
          <a:srcRect l="0" t="0" r="15622" b="0"/>
          <a:stretch/>
        </p:blipFill>
        <p:spPr>
          <a:xfrm>
            <a:off x="952560" y="0"/>
            <a:ext cx="10286640" cy="55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3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Forecast Grid — Lines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/autocomp/demand/versions/24/lines/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SKU-level forecast lines per planning location, item and distribution channel.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4" name="Picture 2" descr="07-aggregates.png"/>
          <p:cNvPicPr/>
          <p:nvPr/>
        </p:nvPicPr>
        <p:blipFill>
          <a:blip r:embed="rId1"/>
          <a:srcRect l="0" t="0" r="15622" b="0"/>
          <a:stretch/>
        </p:blipFill>
        <p:spPr>
          <a:xfrm>
            <a:off x="952560" y="0"/>
            <a:ext cx="10286640" cy="55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angle 3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Forecast Aggregates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/autocomp/demand/versions/24/aggregates/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Rolled-up value summary across the hierarchy.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8" name="Picture 2" descr="09-drilldown-items.png"/>
          <p:cNvPicPr/>
          <p:nvPr/>
        </p:nvPicPr>
        <p:blipFill>
          <a:blip r:embed="rId1"/>
          <a:srcRect l="0" t="0" r="15622" b="0"/>
          <a:stretch/>
        </p:blipFill>
        <p:spPr>
          <a:xfrm>
            <a:off x="952560" y="0"/>
            <a:ext cx="10286640" cy="55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3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Forecast Drilldown — Items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/autocomp/demand/versions/24/drilldown/6/items/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SKU-level lines at a leaf location (chn).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2" name="Picture 2" descr="11-accuracy.png"/>
          <p:cNvPicPr/>
          <p:nvPr/>
        </p:nvPicPr>
        <p:blipFill>
          <a:blip r:embed="rId1"/>
          <a:srcRect l="0" t="0" r="15622" b="0"/>
          <a:stretch/>
        </p:blipFill>
        <p:spPr>
          <a:xfrm>
            <a:off x="952560" y="0"/>
            <a:ext cx="10286640" cy="55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Rectangle 3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Forecast Accuracy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/autocomp/demand/versions/24/accuracy/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Accuracy vs net actuals for the version.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914400" y="1950120"/>
            <a:ext cx="10332360" cy="27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04  Overrides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Planner consensus adjustments on top of the forecast.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autocomp — Demand Planning Demo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Picture 2" descr="10-overrides.png"/>
          <p:cNvPicPr/>
          <p:nvPr/>
        </p:nvPicPr>
        <p:blipFill>
          <a:blip r:embed="rId1"/>
          <a:srcRect l="0" t="0" r="15622" b="0"/>
          <a:stretch/>
        </p:blipFill>
        <p:spPr>
          <a:xfrm>
            <a:off x="952560" y="0"/>
            <a:ext cx="10286640" cy="55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Rectangle 3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0" y="5577840"/>
            <a:ext cx="1219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365760" tIns="13716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Arial"/>
              </a:rPr>
              <a:t>Overrides — List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38bdf8"/>
                </a:solidFill>
                <a:effectLst/>
                <a:uFillTx/>
                <a:latin typeface="Arial"/>
              </a:rPr>
              <a:t>/autocomp/demand/versions/24/overrides/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Arial"/>
              </a:rPr>
              <a:t>Planner consensus overrides on the forecast.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LibreOffice/25.2.5.2$Linux_X86_64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2026-08-07T15:44:40Z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