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8FAFC"/>
                </a:solidFill>
              </a:rPr>
              <a:t>autocomp — Demand Planning Demo</a:t>
            </a:r>
          </a:p>
          <a:p>
            <a:pPr algn="ctr"/>
            <a:r>
              <a:rPr sz="2600">
                <a:solidFill>
                  <a:srgbClr val="38BDF8"/>
                </a:solidFill>
              </a:rPr>
              <a:t>Item Catalogue &amp; Dashboard Sub-Screens</a:t>
            </a:r>
          </a:p>
          <a:p>
            <a:pPr algn="ctr"/>
            <a:r>
              <a:rPr sz="1800">
                <a:solidFill>
                  <a:srgbClr val="94A3B8"/>
                </a:solidFill>
              </a:rPr>
              <a:t>Client: autocomp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atalogu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Item Catalogue — List</a:t>
            </a:r>
          </a:p>
          <a:p>
            <a:r>
              <a:rPr sz="1300">
                <a:solidFill>
                  <a:srgbClr val="38BDF8"/>
                </a:solidFill>
              </a:rPr>
              <a:t>/autocomp/catalogue/</a:t>
            </a:r>
          </a:p>
          <a:p>
            <a:r>
              <a:rPr sz="1400">
                <a:solidFill>
                  <a:srgbClr val="94A3B8"/>
                </a:solidFill>
              </a:rPr>
              <a:t>Full catalogue of SKUs for the autocomp client with search/filter and item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atalogue-i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Item Catalogue — Detail</a:t>
            </a:r>
          </a:p>
          <a:p>
            <a:r>
              <a:rPr sz="1300">
                <a:solidFill>
                  <a:srgbClr val="38BDF8"/>
                </a:solidFill>
              </a:rPr>
              <a:t>/autocomp/catalogue/sku-bsh-aft-001/</a:t>
            </a:r>
          </a:p>
          <a:p>
            <a:r>
              <a:rPr sz="1400">
                <a:solidFill>
                  <a:srgbClr val="94A3B8"/>
                </a:solidFill>
              </a:rPr>
              <a:t>Item master details: attributes, hierarchy and catalogue metadata.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Demand Planning Dashboard</a:t>
            </a:r>
          </a:p>
          <a:p>
            <a:r>
              <a:rPr sz="1300">
                <a:solidFill>
                  <a:srgbClr val="38BDF8"/>
                </a:solidFill>
              </a:rPr>
              <a:t>/autocomp/demand/</a:t>
            </a:r>
          </a:p>
          <a:p>
            <a:r>
              <a:rPr sz="1400">
                <a:solidFill>
                  <a:srgbClr val="94A3B8"/>
                </a:solidFill>
              </a:rPr>
              <a:t>Version status counts, latest forecast version, recent actuals imports and quick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Forecast Versions — List</a:t>
            </a:r>
          </a:p>
          <a:p>
            <a:r>
              <a:rPr sz="1300">
                <a:solidFill>
                  <a:srgbClr val="38BDF8"/>
                </a:solidFill>
              </a:rPr>
              <a:t>/autocomp/demand/versions/</a:t>
            </a:r>
          </a:p>
          <a:p>
            <a:r>
              <a:rPr sz="1400">
                <a:solidFill>
                  <a:srgbClr val="94A3B8"/>
                </a:solidFill>
              </a:rPr>
              <a:t>All forecast versions with status (DRAFT/IN_REVIEW/APPROVED/LOCKED) and run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versio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Forecast Version — Detail</a:t>
            </a:r>
          </a:p>
          <a:p>
            <a:r>
              <a:rPr sz="1300">
                <a:solidFill>
                  <a:srgbClr val="38BDF8"/>
                </a:solidFill>
              </a:rPr>
              <a:t>/autocomp/demand/versions/24/</a:t>
            </a:r>
          </a:p>
          <a:p>
            <a:r>
              <a:rPr sz="1400">
                <a:solidFill>
                  <a:srgbClr val="94A3B8"/>
                </a:solidFill>
              </a:rPr>
              <a:t>Version header, period range, engine config and status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forecast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Forecast Grid — Lines</a:t>
            </a:r>
          </a:p>
          <a:p>
            <a:r>
              <a:rPr sz="1300">
                <a:solidFill>
                  <a:srgbClr val="38BDF8"/>
                </a:solidFill>
              </a:rPr>
              <a:t>/autocomp/demand/versions/24/lines/</a:t>
            </a:r>
          </a:p>
          <a:p>
            <a:r>
              <a:rPr sz="1400">
                <a:solidFill>
                  <a:srgbClr val="94A3B8"/>
                </a:solidFill>
              </a:rPr>
              <a:t>SKU-level forecast lines per planning location, item and distribution channel.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ggre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Forecast Aggregates</a:t>
            </a:r>
          </a:p>
          <a:p>
            <a:r>
              <a:rPr sz="1300">
                <a:solidFill>
                  <a:srgbClr val="38BDF8"/>
                </a:solidFill>
              </a:rPr>
              <a:t>/autocomp/demand/versions/24/aggregates/</a:t>
            </a:r>
          </a:p>
          <a:p>
            <a:r>
              <a:rPr sz="1400">
                <a:solidFill>
                  <a:srgbClr val="94A3B8"/>
                </a:solidFill>
              </a:rPr>
              <a:t>Rolled-up value summary across the hierarchy.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drill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Drilldown — Locations</a:t>
            </a:r>
          </a:p>
          <a:p>
            <a:r>
              <a:rPr sz="1300">
                <a:solidFill>
                  <a:srgbClr val="38BDF8"/>
                </a:solidFill>
              </a:rPr>
              <a:t>/autocomp/demand/versions/24/drilldown/</a:t>
            </a:r>
          </a:p>
          <a:p>
            <a:r>
              <a:rPr sz="1400">
                <a:solidFill>
                  <a:srgbClr val="94A3B8"/>
                </a:solidFill>
              </a:rPr>
              <a:t>Value-aggregate rollup by planning location with clickable drill-down rows.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drilldown-i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Drilldown — Location Items</a:t>
            </a:r>
          </a:p>
          <a:p>
            <a:r>
              <a:rPr sz="1300">
                <a:solidFill>
                  <a:srgbClr val="38BDF8"/>
                </a:solidFill>
              </a:rPr>
              <a:t>/autocomp/demand/versions/24/drilldown/6/items/</a:t>
            </a:r>
          </a:p>
          <a:p>
            <a:r>
              <a:rPr sz="1400">
                <a:solidFill>
                  <a:srgbClr val="94A3B8"/>
                </a:solidFill>
              </a:rPr>
              <a:t>SKU-level lines at a leaf location (chn).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overr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Overrides — List</a:t>
            </a:r>
          </a:p>
          <a:p>
            <a:r>
              <a:rPr sz="1300">
                <a:solidFill>
                  <a:srgbClr val="38BDF8"/>
                </a:solidFill>
              </a:rPr>
              <a:t>/autocomp/demand/versions/24/overrides/</a:t>
            </a:r>
          </a:p>
          <a:p>
            <a:r>
              <a:rPr sz="1400">
                <a:solidFill>
                  <a:srgbClr val="94A3B8"/>
                </a:solidFill>
              </a:rPr>
              <a:t>Planner consensus overrides on the forecast.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Forecast Accuracy</a:t>
            </a:r>
          </a:p>
          <a:p>
            <a:r>
              <a:rPr sz="1300">
                <a:solidFill>
                  <a:srgbClr val="38BDF8"/>
                </a:solidFill>
              </a:rPr>
              <a:t>/autocomp/demand/versions/24/accuracy/</a:t>
            </a:r>
          </a:p>
          <a:p>
            <a:r>
              <a:rPr sz="1400">
                <a:solidFill>
                  <a:srgbClr val="94A3B8"/>
                </a:solidFill>
              </a:rPr>
              <a:t>Accuracy vs net actuals for the version.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act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Actuals — List</a:t>
            </a:r>
          </a:p>
          <a:p>
            <a:r>
              <a:rPr sz="1300">
                <a:solidFill>
                  <a:srgbClr val="38BDF8"/>
                </a:solidFill>
              </a:rPr>
              <a:t>/autocomp/demand/actuals/</a:t>
            </a:r>
          </a:p>
          <a:p>
            <a:r>
              <a:rPr sz="1400">
                <a:solidFill>
                  <a:srgbClr val="94A3B8"/>
                </a:solidFill>
              </a:rPr>
              <a:t>Imported actual-sales records with status.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actuals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Actuals — Upload</a:t>
            </a:r>
          </a:p>
          <a:p>
            <a:r>
              <a:rPr sz="1300">
                <a:solidFill>
                  <a:srgbClr val="38BDF8"/>
                </a:solidFill>
              </a:rPr>
              <a:t>/autocomp/demand/actuals/upload/</a:t>
            </a:r>
          </a:p>
          <a:p>
            <a:r>
              <a:rPr sz="1400">
                <a:solidFill>
                  <a:srgbClr val="94A3B8"/>
                </a:solidFill>
              </a:rPr>
              <a:t>Upload actuals via Excel/CSV template.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actuals-aggre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Actuals — Aggregates</a:t>
            </a:r>
          </a:p>
          <a:p>
            <a:r>
              <a:rPr sz="1300">
                <a:solidFill>
                  <a:srgbClr val="38BDF8"/>
                </a:solidFill>
              </a:rPr>
              <a:t>/autocomp/demand/actuals/aggregates/</a:t>
            </a:r>
          </a:p>
          <a:p>
            <a:r>
              <a:rPr sz="1400">
                <a:solidFill>
                  <a:srgbClr val="94A3B8"/>
                </a:solidFill>
              </a:rPr>
              <a:t>Net actuals rolled up by location/item/channel.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eries-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Series Profiles — List</a:t>
            </a:r>
          </a:p>
          <a:p>
            <a:r>
              <a:rPr sz="1300">
                <a:solidFill>
                  <a:srgbClr val="38BDF8"/>
                </a:solidFill>
              </a:rPr>
              <a:t>/autocomp/demand/series-profiles/</a:t>
            </a:r>
          </a:p>
          <a:p>
            <a:r>
              <a:rPr sz="1400">
                <a:solidFill>
                  <a:srgbClr val="94A3B8"/>
                </a:solidFill>
              </a:rPr>
              <a:t>Statistical profiles per planning series.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outlier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Outlier Management — Queue</a:t>
            </a:r>
          </a:p>
          <a:p>
            <a:r>
              <a:rPr sz="1300">
                <a:solidFill>
                  <a:srgbClr val="38BDF8"/>
                </a:solidFill>
              </a:rPr>
              <a:t>/autocomp/demand/outliers/</a:t>
            </a:r>
          </a:p>
          <a:p>
            <a:r>
              <a:rPr sz="1400">
                <a:solidFill>
                  <a:srgbClr val="94A3B8"/>
                </a:solidFill>
              </a:rPr>
              <a:t>Planner review queue of CANDIDATE outliers with system-suggested adjustments.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outlier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Outlier Management — Detection</a:t>
            </a:r>
          </a:p>
          <a:p>
            <a:r>
              <a:rPr sz="1300">
                <a:solidFill>
                  <a:srgbClr val="38BDF8"/>
                </a:solidFill>
              </a:rPr>
              <a:t>/autocomp/demand/outliers/detection-form/</a:t>
            </a:r>
          </a:p>
          <a:p>
            <a:r>
              <a:rPr sz="1400">
                <a:solidFill>
                  <a:srgbClr val="94A3B8"/>
                </a:solidFill>
              </a:rPr>
              <a:t>Planner-triggered outlier detection for a period range.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outlier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365760" tIns="137160" bIns="91440" wrap="square"/>
          <a:lstStyle/>
          <a:p>
            <a:pPr algn="ctr"/>
            <a:r>
              <a:rPr sz="2600" b="1">
                <a:solidFill>
                  <a:srgbClr val="F8FAFC"/>
                </a:solidFill>
              </a:rPr>
              <a:t>Outlier Management — Decisions</a:t>
            </a:r>
          </a:p>
          <a:p>
            <a:r>
              <a:rPr sz="1300">
                <a:solidFill>
                  <a:srgbClr val="38BDF8"/>
                </a:solidFill>
              </a:rPr>
              <a:t>/autocomp/demand/outliers/decisions/</a:t>
            </a:r>
          </a:p>
          <a:p>
            <a:r>
              <a:rPr sz="1400">
                <a:solidFill>
                  <a:srgbClr val="94A3B8"/>
                </a:solidFill>
              </a:rPr>
              <a:t>Audit report of confirmed/rejected/revised outlier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